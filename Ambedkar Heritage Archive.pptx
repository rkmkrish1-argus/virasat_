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oboto Condensed Bold" charset="1" panose="02000000000000000000"/>
      <p:regular r:id="rId12"/>
    </p:embeddedFont>
    <p:embeddedFont>
      <p:font typeface="Roboto Condensed" charset="1" panose="02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15" Target="../media/image18.png" Type="http://schemas.openxmlformats.org/officeDocument/2006/relationships/image"/><Relationship Id="rId16" Target="../media/image19.png" Type="http://schemas.openxmlformats.org/officeDocument/2006/relationships/image"/><Relationship Id="rId17" Target="../media/image20.png" Type="http://schemas.openxmlformats.org/officeDocument/2006/relationships/image"/><Relationship Id="rId18" Target="../media/image21.png" Type="http://schemas.openxmlformats.org/officeDocument/2006/relationships/image"/><Relationship Id="rId19" Target="../media/image22.png" Type="http://schemas.openxmlformats.org/officeDocument/2006/relationships/image"/><Relationship Id="rId2" Target="../media/image5.png" Type="http://schemas.openxmlformats.org/officeDocument/2006/relationships/image"/><Relationship Id="rId20" Target="../media/image23.png" Type="http://schemas.openxmlformats.org/officeDocument/2006/relationships/image"/><Relationship Id="rId21" Target="../media/image24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18" Target="../media/image41.png" Type="http://schemas.openxmlformats.org/officeDocument/2006/relationships/image"/><Relationship Id="rId19" Target="../media/image42.png" Type="http://schemas.openxmlformats.org/officeDocument/2006/relationships/image"/><Relationship Id="rId2" Target="../media/image25.png" Type="http://schemas.openxmlformats.org/officeDocument/2006/relationships/image"/><Relationship Id="rId20" Target="../media/image43.png" Type="http://schemas.openxmlformats.org/officeDocument/2006/relationships/image"/><Relationship Id="rId21" Target="../media/image44.png" Type="http://schemas.openxmlformats.org/officeDocument/2006/relationships/image"/><Relationship Id="rId22" Target="../media/image45.png" Type="http://schemas.openxmlformats.org/officeDocument/2006/relationships/image"/><Relationship Id="rId23" Target="../media/image46.png" Type="http://schemas.openxmlformats.org/officeDocument/2006/relationships/image"/><Relationship Id="rId24" Target="../media/image47.png" Type="http://schemas.openxmlformats.org/officeDocument/2006/relationships/image"/><Relationship Id="rId25" Target="../media/image48.png" Type="http://schemas.openxmlformats.org/officeDocument/2006/relationships/image"/><Relationship Id="rId26" Target="../media/image49.png" Type="http://schemas.openxmlformats.org/officeDocument/2006/relationships/image"/><Relationship Id="rId27" Target="../media/image50.png" Type="http://schemas.openxmlformats.org/officeDocument/2006/relationships/image"/><Relationship Id="rId28" Target="../media/image51.png" Type="http://schemas.openxmlformats.org/officeDocument/2006/relationships/image"/><Relationship Id="rId29" Target="../media/image52.png" Type="http://schemas.openxmlformats.org/officeDocument/2006/relationships/image"/><Relationship Id="rId3" Target="../media/image26.png" Type="http://schemas.openxmlformats.org/officeDocument/2006/relationships/image"/><Relationship Id="rId30" Target="../media/image53.png" Type="http://schemas.openxmlformats.org/officeDocument/2006/relationships/image"/><Relationship Id="rId31" Target="../media/image54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14" Target="../media/image67.png" Type="http://schemas.openxmlformats.org/officeDocument/2006/relationships/image"/><Relationship Id="rId15" Target="../media/image68.png" Type="http://schemas.openxmlformats.org/officeDocument/2006/relationships/image"/><Relationship Id="rId16" Target="../media/image69.png" Type="http://schemas.openxmlformats.org/officeDocument/2006/relationships/image"/><Relationship Id="rId17" Target="../media/image70.png" Type="http://schemas.openxmlformats.org/officeDocument/2006/relationships/image"/><Relationship Id="rId18" Target="../media/image71.png" Type="http://schemas.openxmlformats.org/officeDocument/2006/relationships/image"/><Relationship Id="rId19" Target="../media/image72.png" Type="http://schemas.openxmlformats.org/officeDocument/2006/relationships/image"/><Relationship Id="rId2" Target="../media/image55.png" Type="http://schemas.openxmlformats.org/officeDocument/2006/relationships/image"/><Relationship Id="rId20" Target="../media/image73.png" Type="http://schemas.openxmlformats.org/officeDocument/2006/relationships/image"/><Relationship Id="rId21" Target="../media/image74.png" Type="http://schemas.openxmlformats.org/officeDocument/2006/relationships/image"/><Relationship Id="rId22" Target="../media/image75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12" Target="../media/image86.png" Type="http://schemas.openxmlformats.org/officeDocument/2006/relationships/image"/><Relationship Id="rId13" Target="../media/image87.png" Type="http://schemas.openxmlformats.org/officeDocument/2006/relationships/image"/><Relationship Id="rId14" Target="../media/image88.png" Type="http://schemas.openxmlformats.org/officeDocument/2006/relationships/image"/><Relationship Id="rId15" Target="../media/image89.png" Type="http://schemas.openxmlformats.org/officeDocument/2006/relationships/image"/><Relationship Id="rId16" Target="../media/image90.png" Type="http://schemas.openxmlformats.org/officeDocument/2006/relationships/image"/><Relationship Id="rId17" Target="../media/image91.png" Type="http://schemas.openxmlformats.org/officeDocument/2006/relationships/image"/><Relationship Id="rId18" Target="../media/image92.png" Type="http://schemas.openxmlformats.org/officeDocument/2006/relationships/image"/><Relationship Id="rId19" Target="../media/image93.png" Type="http://schemas.openxmlformats.org/officeDocument/2006/relationships/image"/><Relationship Id="rId2" Target="../media/image76.png" Type="http://schemas.openxmlformats.org/officeDocument/2006/relationships/image"/><Relationship Id="rId20" Target="../media/image94.png" Type="http://schemas.openxmlformats.org/officeDocument/2006/relationships/image"/><Relationship Id="rId3" Target="../media/image77.png" Type="http://schemas.openxmlformats.org/officeDocument/2006/relationships/image"/><Relationship Id="rId4" Target="../media/image78.png" Type="http://schemas.openxmlformats.org/officeDocument/2006/relationships/image"/><Relationship Id="rId5" Target="../media/image79.pn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Relationship Id="rId8" Target="../media/image82.pn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3.png" Type="http://schemas.openxmlformats.org/officeDocument/2006/relationships/image"/><Relationship Id="rId11" Target="../media/image104.png" Type="http://schemas.openxmlformats.org/officeDocument/2006/relationships/image"/><Relationship Id="rId12" Target="../media/image105.png" Type="http://schemas.openxmlformats.org/officeDocument/2006/relationships/image"/><Relationship Id="rId2" Target="../media/image95.png" Type="http://schemas.openxmlformats.org/officeDocument/2006/relationships/image"/><Relationship Id="rId3" Target="../media/image96.png" Type="http://schemas.openxmlformats.org/officeDocument/2006/relationships/image"/><Relationship Id="rId4" Target="../media/image97.png" Type="http://schemas.openxmlformats.org/officeDocument/2006/relationships/image"/><Relationship Id="rId5" Target="../media/image98.png" Type="http://schemas.openxmlformats.org/officeDocument/2006/relationships/image"/><Relationship Id="rId6" Target="../media/image99.png" Type="http://schemas.openxmlformats.org/officeDocument/2006/relationships/image"/><Relationship Id="rId7" Target="../media/image100.png" Type="http://schemas.openxmlformats.org/officeDocument/2006/relationships/image"/><Relationship Id="rId8" Target="../media/image101.png" Type="http://schemas.openxmlformats.org/officeDocument/2006/relationships/image"/><Relationship Id="rId9" Target="../media/image10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144000" cy="9652945"/>
          </a:xfrm>
          <a:custGeom>
            <a:avLst/>
            <a:gdLst/>
            <a:ahLst/>
            <a:cxnLst/>
            <a:rect r="r" b="b" t="t" l="l"/>
            <a:pathLst>
              <a:path h="9652945" w="9144000">
                <a:moveTo>
                  <a:pt x="0" y="0"/>
                </a:moveTo>
                <a:lnTo>
                  <a:pt x="9144000" y="0"/>
                </a:lnTo>
                <a:lnTo>
                  <a:pt x="9144000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64354" y="634055"/>
            <a:ext cx="7197072" cy="9018889"/>
          </a:xfrm>
          <a:custGeom>
            <a:avLst/>
            <a:gdLst/>
            <a:ahLst/>
            <a:cxnLst/>
            <a:rect r="r" b="b" t="t" l="l"/>
            <a:pathLst>
              <a:path h="9018889" w="7197072">
                <a:moveTo>
                  <a:pt x="0" y="0"/>
                </a:moveTo>
                <a:lnTo>
                  <a:pt x="7197072" y="0"/>
                </a:lnTo>
                <a:lnTo>
                  <a:pt x="7197072" y="9018890"/>
                </a:lnTo>
                <a:lnTo>
                  <a:pt x="0" y="9018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1520" y="823218"/>
            <a:ext cx="5120640" cy="38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893" b="true">
                <a:solidFill>
                  <a:srgbClr val="006B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SMART INDIA HACKATHON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3232" y="1547589"/>
            <a:ext cx="9985248" cy="337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3"/>
              </a:lnSpc>
            </a:pPr>
            <a:r>
              <a:rPr lang="en-US" sz="8753" b="true">
                <a:solidFill>
                  <a:srgbClr val="002C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DR. B. R. AMBEDKAR DIGITAL HERITAGE ARCHIVE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4939913"/>
            <a:ext cx="6967728" cy="46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3401">
                <a:solidFill>
                  <a:srgbClr val="002C6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Preserving legacy. </a:t>
            </a:r>
            <a:r>
              <a:rPr lang="en-US" sz="3401" b="true">
                <a:solidFill>
                  <a:srgbClr val="006BC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Empowering futures.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9423373"/>
            <a:ext cx="18288000" cy="863627"/>
          </a:xfrm>
          <a:custGeom>
            <a:avLst/>
            <a:gdLst/>
            <a:ahLst/>
            <a:cxnLst/>
            <a:rect r="r" b="b" t="t" l="l"/>
            <a:pathLst>
              <a:path h="863627" w="18288000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1520" y="9718302"/>
            <a:ext cx="6236208" cy="38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2823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ONE NATION. ONE ARCHIVE. ONE LEGACY.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1520" y="5792471"/>
            <a:ext cx="6766560" cy="293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8"/>
              </a:lnSpc>
            </a:pPr>
            <a:r>
              <a:rPr lang="en-US" sz="2638" b="true">
                <a:solidFill>
                  <a:srgbClr val="002C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Problem Statement ID: </a:t>
            </a:r>
            <a:r>
              <a:rPr lang="en-US" sz="2638">
                <a:solidFill>
                  <a:srgbClr val="002C6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26096</a:t>
            </a:r>
          </a:p>
          <a:p>
            <a:pPr algn="l">
              <a:lnSpc>
                <a:spcPts val="3958"/>
              </a:lnSpc>
            </a:pPr>
            <a:r>
              <a:rPr lang="en-US" sz="2638" b="true">
                <a:solidFill>
                  <a:srgbClr val="002C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Theme: </a:t>
            </a:r>
            <a:r>
              <a:rPr lang="en-US" sz="2638">
                <a:solidFill>
                  <a:srgbClr val="002C6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Smart Education</a:t>
            </a:r>
          </a:p>
          <a:p>
            <a:pPr algn="l">
              <a:lnSpc>
                <a:spcPts val="3958"/>
              </a:lnSpc>
            </a:pPr>
            <a:r>
              <a:rPr lang="en-US" sz="2638" b="true">
                <a:solidFill>
                  <a:srgbClr val="002C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PS Category: </a:t>
            </a:r>
            <a:r>
              <a:rPr lang="en-US" sz="2638">
                <a:solidFill>
                  <a:srgbClr val="002C6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Hardware (with Integrated Software)</a:t>
            </a:r>
          </a:p>
          <a:p>
            <a:pPr algn="l">
              <a:lnSpc>
                <a:spcPts val="3958"/>
              </a:lnSpc>
            </a:pPr>
            <a:r>
              <a:rPr lang="en-US" sz="2638" b="true">
                <a:solidFill>
                  <a:srgbClr val="002C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Official PS title: </a:t>
            </a:r>
            <a:r>
              <a:rPr lang="en-US" sz="2638">
                <a:solidFill>
                  <a:srgbClr val="002C6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[FILL FROM SIH PORTAL]</a:t>
            </a:r>
          </a:p>
          <a:p>
            <a:pPr algn="l">
              <a:lnSpc>
                <a:spcPts val="3958"/>
              </a:lnSpc>
            </a:pPr>
            <a:r>
              <a:rPr lang="en-US" sz="2638" b="true">
                <a:solidFill>
                  <a:srgbClr val="002C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Team ID: </a:t>
            </a:r>
            <a:r>
              <a:rPr lang="en-US" sz="2638">
                <a:solidFill>
                  <a:srgbClr val="002C6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[FILL FROM SIH PORTAL]</a:t>
            </a:r>
          </a:p>
          <a:p>
            <a:pPr algn="l">
              <a:lnSpc>
                <a:spcPts val="3958"/>
              </a:lnSpc>
            </a:pPr>
            <a:r>
              <a:rPr lang="en-US" sz="2638" b="true">
                <a:solidFill>
                  <a:srgbClr val="002C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Registered team name: </a:t>
            </a:r>
            <a:r>
              <a:rPr lang="en-US" sz="2638">
                <a:solidFill>
                  <a:srgbClr val="002C6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[FILL FROM SIH PORTAL]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656" y="565384"/>
            <a:ext cx="8430768" cy="105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4"/>
              </a:lnSpc>
            </a:pPr>
            <a:r>
              <a:rPr lang="en-US" sz="7413" b="true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PROPOSED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520" y="1592368"/>
            <a:ext cx="8028432" cy="43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3025">
                <a:solidFill>
                  <a:srgbClr val="1A3E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 scattered sources to one trusted digital archive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6736" y="2659336"/>
            <a:ext cx="3236976" cy="348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Unify dispersed materials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6736" y="3038703"/>
            <a:ext cx="3547872" cy="631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3">
                <a:solidFill>
                  <a:srgbClr val="1A3E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Bring fragmented archival sources into a single institutional archive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6736" y="4048081"/>
            <a:ext cx="2926080" cy="348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Normalize and connect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6736" y="4427448"/>
            <a:ext cx="3749040" cy="631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3">
                <a:solidFill>
                  <a:srgbClr val="1A3E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Standardized records with citations enable precise search and discovery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6736" y="5477974"/>
            <a:ext cx="2633472" cy="348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Navigate by timeline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6736" y="5857341"/>
            <a:ext cx="3456432" cy="631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3">
                <a:solidFill>
                  <a:srgbClr val="1A3E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Trace ideas and events through a linked, chronological timeline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6736" y="7010737"/>
            <a:ext cx="2761488" cy="348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Access for every user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6736" y="7400391"/>
            <a:ext cx="3602736" cy="631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3">
                <a:solidFill>
                  <a:srgbClr val="1A3E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AI-assisted OCR review with an inclusive web and kiosk experience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873598" y="2569017"/>
            <a:ext cx="2843828" cy="218640"/>
          </a:xfrm>
          <a:custGeom>
            <a:avLst/>
            <a:gdLst/>
            <a:ahLst/>
            <a:cxnLst/>
            <a:rect r="r" b="b" t="t" l="l"/>
            <a:pathLst>
              <a:path h="218640" w="2843828">
                <a:moveTo>
                  <a:pt x="0" y="0"/>
                </a:moveTo>
                <a:lnTo>
                  <a:pt x="2843828" y="0"/>
                </a:lnTo>
                <a:lnTo>
                  <a:pt x="284382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873598" y="2776725"/>
            <a:ext cx="2843828" cy="1082267"/>
          </a:xfrm>
          <a:custGeom>
            <a:avLst/>
            <a:gdLst/>
            <a:ahLst/>
            <a:cxnLst/>
            <a:rect r="r" b="b" t="t" l="l"/>
            <a:pathLst>
              <a:path h="1082267" w="2843828">
                <a:moveTo>
                  <a:pt x="0" y="0"/>
                </a:moveTo>
                <a:lnTo>
                  <a:pt x="2843828" y="0"/>
                </a:lnTo>
                <a:lnTo>
                  <a:pt x="284382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309360" y="3096084"/>
            <a:ext cx="1920240" cy="49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8"/>
              </a:lnSpc>
            </a:pPr>
            <a:r>
              <a:rPr lang="en-US" sz="1744" b="true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Scattered collections across institutions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873598" y="4066699"/>
            <a:ext cx="2843828" cy="1082267"/>
          </a:xfrm>
          <a:custGeom>
            <a:avLst/>
            <a:gdLst/>
            <a:ahLst/>
            <a:cxnLst/>
            <a:rect r="r" b="b" t="t" l="l"/>
            <a:pathLst>
              <a:path h="1082267" w="2843828">
                <a:moveTo>
                  <a:pt x="0" y="0"/>
                </a:moveTo>
                <a:lnTo>
                  <a:pt x="2843828" y="0"/>
                </a:lnTo>
                <a:lnTo>
                  <a:pt x="284382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309360" y="4350859"/>
            <a:ext cx="1920240" cy="494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781" b="true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Inconsistent formats and descriptions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873598" y="5356674"/>
            <a:ext cx="2843828" cy="1082267"/>
          </a:xfrm>
          <a:custGeom>
            <a:avLst/>
            <a:gdLst/>
            <a:ahLst/>
            <a:cxnLst/>
            <a:rect r="r" b="b" t="t" l="l"/>
            <a:pathLst>
              <a:path h="1082267" w="2843828">
                <a:moveTo>
                  <a:pt x="0" y="0"/>
                </a:moveTo>
                <a:lnTo>
                  <a:pt x="2843828" y="0"/>
                </a:lnTo>
                <a:lnTo>
                  <a:pt x="284382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217920" y="5677882"/>
            <a:ext cx="2103120" cy="494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781" b="true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Limited discoverability and context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487732" y="3214004"/>
            <a:ext cx="656268" cy="2787657"/>
          </a:xfrm>
          <a:custGeom>
            <a:avLst/>
            <a:gdLst/>
            <a:ahLst/>
            <a:cxnLst/>
            <a:rect r="r" b="b" t="t" l="l"/>
            <a:pathLst>
              <a:path h="2787657" w="656268">
                <a:moveTo>
                  <a:pt x="0" y="0"/>
                </a:moveTo>
                <a:lnTo>
                  <a:pt x="656268" y="0"/>
                </a:lnTo>
                <a:lnTo>
                  <a:pt x="656268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925244" y="4493047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008086" y="2776725"/>
            <a:ext cx="3062584" cy="3869923"/>
          </a:xfrm>
          <a:custGeom>
            <a:avLst/>
            <a:gdLst/>
            <a:ahLst/>
            <a:cxnLst/>
            <a:rect r="r" b="b" t="t" l="l"/>
            <a:pathLst>
              <a:path h="3869923" w="3062584">
                <a:moveTo>
                  <a:pt x="0" y="0"/>
                </a:moveTo>
                <a:lnTo>
                  <a:pt x="3062584" y="0"/>
                </a:lnTo>
                <a:lnTo>
                  <a:pt x="306258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533888" y="3262899"/>
            <a:ext cx="2048256" cy="221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3191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DR. B. R. AMBEDKAR DIGITAL HERITAGE ARCHIVE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33888" y="5699066"/>
            <a:ext cx="2048256" cy="55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8"/>
              </a:lnSpc>
            </a:pPr>
            <a:r>
              <a:rPr lang="en-US" sz="1857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Unified. Searchable. Cited. Accessible.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361330" y="2569017"/>
            <a:ext cx="2843828" cy="218640"/>
          </a:xfrm>
          <a:custGeom>
            <a:avLst/>
            <a:gdLst/>
            <a:ahLst/>
            <a:cxnLst/>
            <a:rect r="r" b="b" t="t" l="l"/>
            <a:pathLst>
              <a:path h="218640" w="2843828">
                <a:moveTo>
                  <a:pt x="0" y="0"/>
                </a:moveTo>
                <a:lnTo>
                  <a:pt x="2843828" y="0"/>
                </a:lnTo>
                <a:lnTo>
                  <a:pt x="284382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361330" y="2776725"/>
            <a:ext cx="2843828" cy="1082267"/>
          </a:xfrm>
          <a:custGeom>
            <a:avLst/>
            <a:gdLst/>
            <a:ahLst/>
            <a:cxnLst/>
            <a:rect r="r" b="b" t="t" l="l"/>
            <a:pathLst>
              <a:path h="1082267" w="2843828">
                <a:moveTo>
                  <a:pt x="0" y="0"/>
                </a:moveTo>
                <a:lnTo>
                  <a:pt x="2843828" y="0"/>
                </a:lnTo>
                <a:lnTo>
                  <a:pt x="284382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4794992" y="3107494"/>
            <a:ext cx="1828800" cy="47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5"/>
              </a:lnSpc>
            </a:pPr>
            <a:r>
              <a:rPr lang="en-US" sz="1668" b="true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Powerful search across all collections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361330" y="3848060"/>
            <a:ext cx="2843828" cy="1082267"/>
          </a:xfrm>
          <a:custGeom>
            <a:avLst/>
            <a:gdLst/>
            <a:ahLst/>
            <a:cxnLst/>
            <a:rect r="r" b="b" t="t" l="l"/>
            <a:pathLst>
              <a:path h="1082267" w="2843828">
                <a:moveTo>
                  <a:pt x="0" y="0"/>
                </a:moveTo>
                <a:lnTo>
                  <a:pt x="2843828" y="0"/>
                </a:lnTo>
                <a:lnTo>
                  <a:pt x="284382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4721840" y="4133709"/>
            <a:ext cx="2048256" cy="51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sz="1857" b="true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Source-backed results with citations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361330" y="4919394"/>
            <a:ext cx="2843828" cy="1082267"/>
          </a:xfrm>
          <a:custGeom>
            <a:avLst/>
            <a:gdLst/>
            <a:ahLst/>
            <a:cxnLst/>
            <a:rect r="r" b="b" t="t" l="l"/>
            <a:pathLst>
              <a:path h="1082267" w="2843828">
                <a:moveTo>
                  <a:pt x="0" y="0"/>
                </a:moveTo>
                <a:lnTo>
                  <a:pt x="2843828" y="0"/>
                </a:lnTo>
                <a:lnTo>
                  <a:pt x="284382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794992" y="5204919"/>
            <a:ext cx="1865376" cy="49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8"/>
              </a:lnSpc>
            </a:pPr>
            <a:r>
              <a:rPr lang="en-US" sz="1744" b="true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Timeline view of life, work and impact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4361330" y="5990729"/>
            <a:ext cx="2843828" cy="1082267"/>
          </a:xfrm>
          <a:custGeom>
            <a:avLst/>
            <a:gdLst/>
            <a:ahLst/>
            <a:cxnLst/>
            <a:rect r="r" b="b" t="t" l="l"/>
            <a:pathLst>
              <a:path h="1082267" w="2843828">
                <a:moveTo>
                  <a:pt x="0" y="0"/>
                </a:moveTo>
                <a:lnTo>
                  <a:pt x="2843828" y="0"/>
                </a:lnTo>
                <a:lnTo>
                  <a:pt x="284382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794992" y="6254193"/>
            <a:ext cx="1865376" cy="49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8"/>
              </a:lnSpc>
            </a:pPr>
            <a:r>
              <a:rPr lang="en-US" sz="1744" b="true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Accessible web and kiosk-style interface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716000" y="3214004"/>
            <a:ext cx="656268" cy="3432644"/>
          </a:xfrm>
          <a:custGeom>
            <a:avLst/>
            <a:gdLst/>
            <a:ahLst/>
            <a:cxnLst/>
            <a:rect r="r" b="b" t="t" l="l"/>
            <a:pathLst>
              <a:path h="3432644" w="656268">
                <a:moveTo>
                  <a:pt x="0" y="0"/>
                </a:moveTo>
                <a:lnTo>
                  <a:pt x="656268" y="0"/>
                </a:lnTo>
                <a:lnTo>
                  <a:pt x="656268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059732" y="4493047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654842" y="7280704"/>
            <a:ext cx="3281340" cy="1727254"/>
          </a:xfrm>
          <a:custGeom>
            <a:avLst/>
            <a:gdLst/>
            <a:ahLst/>
            <a:cxnLst/>
            <a:rect r="r" b="b" t="t" l="l"/>
            <a:pathLst>
              <a:path h="1727254" w="3281340">
                <a:moveTo>
                  <a:pt x="0" y="0"/>
                </a:moveTo>
                <a:lnTo>
                  <a:pt x="3281340" y="0"/>
                </a:lnTo>
                <a:lnTo>
                  <a:pt x="328134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108192" y="7582894"/>
            <a:ext cx="2432304" cy="76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691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OUR DIFFERENTIATOR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8706488" y="7280704"/>
            <a:ext cx="8498670" cy="1727254"/>
          </a:xfrm>
          <a:custGeom>
            <a:avLst/>
            <a:gdLst/>
            <a:ahLst/>
            <a:cxnLst/>
            <a:rect r="r" b="b" t="t" l="l"/>
            <a:pathLst>
              <a:path h="1727254" w="8498670">
                <a:moveTo>
                  <a:pt x="0" y="0"/>
                </a:moveTo>
                <a:lnTo>
                  <a:pt x="8498670" y="0"/>
                </a:lnTo>
                <a:lnTo>
                  <a:pt x="849867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619488" y="8117936"/>
            <a:ext cx="1188720" cy="53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9"/>
              </a:lnSpc>
            </a:pPr>
            <a:r>
              <a:rPr lang="en-US" sz="206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Personal Documents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1320622" y="7925691"/>
            <a:ext cx="218756" cy="863627"/>
          </a:xfrm>
          <a:custGeom>
            <a:avLst/>
            <a:gdLst/>
            <a:ahLst/>
            <a:cxnLst/>
            <a:rect r="r" b="b" t="t" l="l"/>
            <a:pathLst>
              <a:path h="863627" w="218756">
                <a:moveTo>
                  <a:pt x="0" y="0"/>
                </a:moveTo>
                <a:lnTo>
                  <a:pt x="218756" y="0"/>
                </a:lnTo>
                <a:lnTo>
                  <a:pt x="2187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2124944" y="8095634"/>
            <a:ext cx="1499616" cy="574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5"/>
              </a:lnSpc>
            </a:pPr>
            <a:r>
              <a:rPr lang="en-US" sz="221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Speeches and Writings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4142574" y="7925691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4923008" y="8105774"/>
            <a:ext cx="1572768" cy="56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216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Contemporary Media Reports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0" y="9423373"/>
            <a:ext cx="18288000" cy="863627"/>
          </a:xfrm>
          <a:custGeom>
            <a:avLst/>
            <a:gdLst/>
            <a:ahLst/>
            <a:cxnLst/>
            <a:rect r="r" b="b" t="t" l="l"/>
            <a:pathLst>
              <a:path h="863627" w="18288000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585216" y="9694862"/>
            <a:ext cx="5065776" cy="4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893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SMART INDIA HACKATHON 2026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035040" y="2313358"/>
            <a:ext cx="2468880" cy="23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7"/>
              </a:lnSpc>
            </a:pPr>
            <a:r>
              <a:rPr lang="en-US" b="true" sz="1606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FROM FRAGMENTED ACCESS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557248" y="2313358"/>
            <a:ext cx="2286000" cy="23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7"/>
              </a:lnSpc>
            </a:pPr>
            <a:r>
              <a:rPr lang="en-US" b="true" sz="1606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TO A UNIFIED EXPERIENCE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98864" y="7570916"/>
            <a:ext cx="2962656" cy="298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2021">
                <a:solidFill>
                  <a:srgbClr val="1A3E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First-of-its-kind integration of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417552" y="7568433"/>
            <a:ext cx="4407408" cy="31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9"/>
              </a:lnSpc>
            </a:pPr>
            <a:r>
              <a:rPr lang="en-US" b="true" sz="2190">
                <a:solidFill>
                  <a:srgbClr val="1A3E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THREE PRIMARY-SOURCE GROUPS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506793"/>
            <a:ext cx="8302752" cy="111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TECHNICAL APPROACH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3232" y="1562430"/>
            <a:ext cx="8101584" cy="4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2638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 end-to-end pipeline for a unified digital heritage archive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2350377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0160" y="2666894"/>
            <a:ext cx="1188720" cy="55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sz="157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SOURCE REPOSITORIES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3214004"/>
            <a:ext cx="1968804" cy="4077631"/>
          </a:xfrm>
          <a:custGeom>
            <a:avLst/>
            <a:gdLst/>
            <a:ahLst/>
            <a:cxnLst/>
            <a:rect r="r" b="b" t="t" l="l"/>
            <a:pathLst>
              <a:path h="4077631" w="1968804">
                <a:moveTo>
                  <a:pt x="0" y="0"/>
                </a:moveTo>
                <a:lnTo>
                  <a:pt x="1968804" y="0"/>
                </a:lnTo>
                <a:lnTo>
                  <a:pt x="1968804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8720" y="3587785"/>
            <a:ext cx="1389888" cy="85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sz="1496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Scattered collections across institutions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6464" y="4801401"/>
            <a:ext cx="987552" cy="842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"/>
              </a:lnSpc>
            </a:pPr>
            <a:r>
              <a:rPr lang="en-US" sz="1523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Inconsistent formats and descriptions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3312" y="6056665"/>
            <a:ext cx="1097280" cy="85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sz="1496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Limited discoverability and context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040708" y="2569017"/>
            <a:ext cx="7415828" cy="863627"/>
          </a:xfrm>
          <a:custGeom>
            <a:avLst/>
            <a:gdLst/>
            <a:ahLst/>
            <a:cxnLst/>
            <a:rect r="r" b="b" t="t" l="l"/>
            <a:pathLst>
              <a:path h="863627" w="7415828">
                <a:moveTo>
                  <a:pt x="0" y="0"/>
                </a:moveTo>
                <a:lnTo>
                  <a:pt x="7415828" y="0"/>
                </a:lnTo>
                <a:lnTo>
                  <a:pt x="741582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259464" y="3214004"/>
            <a:ext cx="1750048" cy="3006296"/>
          </a:xfrm>
          <a:custGeom>
            <a:avLst/>
            <a:gdLst/>
            <a:ahLst/>
            <a:cxnLst/>
            <a:rect r="r" b="b" t="t" l="l"/>
            <a:pathLst>
              <a:path h="3006296" w="1750048">
                <a:moveTo>
                  <a:pt x="0" y="0"/>
                </a:moveTo>
                <a:lnTo>
                  <a:pt x="1750048" y="0"/>
                </a:lnTo>
                <a:lnTo>
                  <a:pt x="1750048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30752" y="3619740"/>
            <a:ext cx="694944" cy="25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sz="1458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COLLECT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93008" y="4323480"/>
            <a:ext cx="1280160" cy="125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sz="1361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Ingest documents, images, audio, video and texts from multiple sources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998574" y="3214004"/>
            <a:ext cx="1760986" cy="3006296"/>
          </a:xfrm>
          <a:custGeom>
            <a:avLst/>
            <a:gdLst/>
            <a:ahLst/>
            <a:cxnLst/>
            <a:rect r="r" b="b" t="t" l="l"/>
            <a:pathLst>
              <a:path h="3006296" w="1760986">
                <a:moveTo>
                  <a:pt x="0" y="0"/>
                </a:moveTo>
                <a:lnTo>
                  <a:pt x="1760986" y="0"/>
                </a:lnTo>
                <a:lnTo>
                  <a:pt x="1760986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31536" y="3615026"/>
            <a:ext cx="932688" cy="26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7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NORMALIZE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30368" y="4297174"/>
            <a:ext cx="1280160" cy="13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sz="1415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Standardize formats, structure metadata and ensure consistent descriptions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748622" y="3214004"/>
            <a:ext cx="1750048" cy="3006296"/>
          </a:xfrm>
          <a:custGeom>
            <a:avLst/>
            <a:gdLst/>
            <a:ahLst/>
            <a:cxnLst/>
            <a:rect r="r" b="b" t="t" l="l"/>
            <a:pathLst>
              <a:path h="3006296" w="1750048">
                <a:moveTo>
                  <a:pt x="0" y="0"/>
                </a:moveTo>
                <a:lnTo>
                  <a:pt x="1750048" y="0"/>
                </a:lnTo>
                <a:lnTo>
                  <a:pt x="1750048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296912" y="3615026"/>
            <a:ext cx="786384" cy="26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7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VALIDATE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32320" y="4264031"/>
            <a:ext cx="1170432" cy="100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sz="1361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Verify records, extract metadata and maintain quality control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706488" y="3214004"/>
            <a:ext cx="1750048" cy="3006296"/>
          </a:xfrm>
          <a:custGeom>
            <a:avLst/>
            <a:gdLst/>
            <a:ahLst/>
            <a:cxnLst/>
            <a:rect r="r" b="b" t="t" l="l"/>
            <a:pathLst>
              <a:path h="3006296" w="1750048">
                <a:moveTo>
                  <a:pt x="0" y="0"/>
                </a:moveTo>
                <a:lnTo>
                  <a:pt x="1750048" y="0"/>
                </a:lnTo>
                <a:lnTo>
                  <a:pt x="1750048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015984" y="3619740"/>
            <a:ext cx="932688" cy="25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sz="1458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OCR REVIEW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78240" y="4264031"/>
            <a:ext cx="1280160" cy="100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sz="1361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AI-assisted OCR with human review for accuracy and completeness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821952" y="4285339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779818" y="4285339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529866" y="4285339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268976" y="4285339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26842" y="4285339"/>
            <a:ext cx="667206" cy="644987"/>
          </a:xfrm>
          <a:custGeom>
            <a:avLst/>
            <a:gdLst/>
            <a:ahLst/>
            <a:cxnLst/>
            <a:rect r="r" b="b" t="t" l="l"/>
            <a:pathLst>
              <a:path h="644987" w="667206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53244" y="5990729"/>
            <a:ext cx="5009512" cy="874559"/>
          </a:xfrm>
          <a:custGeom>
            <a:avLst/>
            <a:gdLst/>
            <a:ahLst/>
            <a:cxnLst/>
            <a:rect r="r" b="b" t="t" l="l"/>
            <a:pathLst>
              <a:path h="874559" w="5009512">
                <a:moveTo>
                  <a:pt x="0" y="0"/>
                </a:moveTo>
                <a:lnTo>
                  <a:pt x="5009512" y="0"/>
                </a:lnTo>
                <a:lnTo>
                  <a:pt x="500951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134488" y="6854356"/>
            <a:ext cx="5447024" cy="655919"/>
          </a:xfrm>
          <a:custGeom>
            <a:avLst/>
            <a:gdLst/>
            <a:ahLst/>
            <a:cxnLst/>
            <a:rect r="r" b="b" t="t" l="l"/>
            <a:pathLst>
              <a:path h="655919" w="5447024">
                <a:moveTo>
                  <a:pt x="0" y="0"/>
                </a:moveTo>
                <a:lnTo>
                  <a:pt x="5447024" y="0"/>
                </a:lnTo>
                <a:lnTo>
                  <a:pt x="5447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134488" y="7280704"/>
            <a:ext cx="1968804" cy="1727254"/>
          </a:xfrm>
          <a:custGeom>
            <a:avLst/>
            <a:gdLst/>
            <a:ahLst/>
            <a:cxnLst/>
            <a:rect r="r" b="b" t="t" l="l"/>
            <a:pathLst>
              <a:path h="1727254" w="1968804">
                <a:moveTo>
                  <a:pt x="0" y="0"/>
                </a:moveTo>
                <a:lnTo>
                  <a:pt x="1968804" y="0"/>
                </a:lnTo>
                <a:lnTo>
                  <a:pt x="196880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873598" y="7280704"/>
            <a:ext cx="1968804" cy="1727254"/>
          </a:xfrm>
          <a:custGeom>
            <a:avLst/>
            <a:gdLst/>
            <a:ahLst/>
            <a:cxnLst/>
            <a:rect r="r" b="b" t="t" l="l"/>
            <a:pathLst>
              <a:path h="1727254" w="1968804">
                <a:moveTo>
                  <a:pt x="0" y="0"/>
                </a:moveTo>
                <a:lnTo>
                  <a:pt x="1968804" y="0"/>
                </a:lnTo>
                <a:lnTo>
                  <a:pt x="196880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612708" y="7280704"/>
            <a:ext cx="1968804" cy="1727254"/>
          </a:xfrm>
          <a:custGeom>
            <a:avLst/>
            <a:gdLst/>
            <a:ahLst/>
            <a:cxnLst/>
            <a:rect r="r" b="b" t="t" l="l"/>
            <a:pathLst>
              <a:path h="1727254" w="1968804">
                <a:moveTo>
                  <a:pt x="0" y="0"/>
                </a:moveTo>
                <a:lnTo>
                  <a:pt x="1968804" y="0"/>
                </a:lnTo>
                <a:lnTo>
                  <a:pt x="196880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664354" y="2350377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0991088" y="2656338"/>
            <a:ext cx="1536192" cy="575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60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APPLICATION AND SERVICES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0664354" y="3214004"/>
            <a:ext cx="2187560" cy="4077631"/>
          </a:xfrm>
          <a:custGeom>
            <a:avLst/>
            <a:gdLst/>
            <a:ahLst/>
            <a:cxnLst/>
            <a:rect r="r" b="b" t="t" l="l"/>
            <a:pathLst>
              <a:path h="4077631" w="2187560">
                <a:moveTo>
                  <a:pt x="0" y="0"/>
                </a:moveTo>
                <a:lnTo>
                  <a:pt x="2187560" y="0"/>
                </a:lnTo>
                <a:lnTo>
                  <a:pt x="218756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059732" y="2350377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3478256" y="2656338"/>
            <a:ext cx="1536192" cy="575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60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EXPERIENCE LAYER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3059732" y="3214004"/>
            <a:ext cx="2187560" cy="4077631"/>
          </a:xfrm>
          <a:custGeom>
            <a:avLst/>
            <a:gdLst/>
            <a:ahLst/>
            <a:cxnLst/>
            <a:rect r="r" b="b" t="t" l="l"/>
            <a:pathLst>
              <a:path h="4077631" w="2187560">
                <a:moveTo>
                  <a:pt x="0" y="0"/>
                </a:moveTo>
                <a:lnTo>
                  <a:pt x="2187560" y="0"/>
                </a:lnTo>
                <a:lnTo>
                  <a:pt x="218756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3716000" y="4184181"/>
            <a:ext cx="1097280" cy="842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"/>
              </a:lnSpc>
            </a:pPr>
            <a:r>
              <a:rPr lang="en-US" sz="1523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Unified search across all collections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606272" y="6025440"/>
            <a:ext cx="1316736" cy="78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sz="1415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Life, work and impact in chronological flow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2622220" y="4285339"/>
            <a:ext cx="667206" cy="644987"/>
          </a:xfrm>
          <a:custGeom>
            <a:avLst/>
            <a:gdLst/>
            <a:ahLst/>
            <a:cxnLst/>
            <a:rect r="r" b="b" t="t" l="l"/>
            <a:pathLst>
              <a:path h="644987" w="667206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5673866" y="1497682"/>
            <a:ext cx="1968804" cy="863627"/>
          </a:xfrm>
          <a:custGeom>
            <a:avLst/>
            <a:gdLst/>
            <a:ahLst/>
            <a:cxnLst/>
            <a:rect r="r" b="b" t="t" l="l"/>
            <a:pathLst>
              <a:path h="863627" w="1968804">
                <a:moveTo>
                  <a:pt x="0" y="0"/>
                </a:moveTo>
                <a:lnTo>
                  <a:pt x="1968804" y="0"/>
                </a:lnTo>
                <a:lnTo>
                  <a:pt x="196880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5673866" y="2142670"/>
            <a:ext cx="1968804" cy="2787657"/>
          </a:xfrm>
          <a:custGeom>
            <a:avLst/>
            <a:gdLst/>
            <a:ahLst/>
            <a:cxnLst/>
            <a:rect r="r" b="b" t="t" l="l"/>
            <a:pathLst>
              <a:path h="2787657" w="1968804">
                <a:moveTo>
                  <a:pt x="0" y="0"/>
                </a:moveTo>
                <a:lnTo>
                  <a:pt x="1968804" y="0"/>
                </a:lnTo>
                <a:lnTo>
                  <a:pt x="1968804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6148304" y="2417166"/>
            <a:ext cx="932688" cy="53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3"/>
              </a:lnSpc>
            </a:pPr>
            <a:r>
              <a:rPr lang="en-US" sz="1442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Researchers and scholars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148304" y="3394564"/>
            <a:ext cx="932688" cy="51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sz="1415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Students and educators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5236354" y="2776725"/>
            <a:ext cx="448450" cy="4733550"/>
          </a:xfrm>
          <a:custGeom>
            <a:avLst/>
            <a:gdLst/>
            <a:ahLst/>
            <a:cxnLst/>
            <a:rect r="r" b="b" t="t" l="l"/>
            <a:pathLst>
              <a:path h="4733550" w="448450">
                <a:moveTo>
                  <a:pt x="0" y="0"/>
                </a:moveTo>
                <a:lnTo>
                  <a:pt x="448450" y="0"/>
                </a:lnTo>
                <a:lnTo>
                  <a:pt x="448450" y="4733550"/>
                </a:lnTo>
                <a:lnTo>
                  <a:pt x="0" y="47335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5673866" y="5138034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6148304" y="5381524"/>
            <a:ext cx="932688" cy="545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54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PROPOSED HARDWARE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5673866" y="5990729"/>
            <a:ext cx="1968804" cy="3017228"/>
          </a:xfrm>
          <a:custGeom>
            <a:avLst/>
            <a:gdLst/>
            <a:ahLst/>
            <a:cxnLst/>
            <a:rect r="r" b="b" t="t" l="l"/>
            <a:pathLst>
              <a:path h="3017228" w="1968804">
                <a:moveTo>
                  <a:pt x="0" y="0"/>
                </a:moveTo>
                <a:lnTo>
                  <a:pt x="1968804" y="0"/>
                </a:lnTo>
                <a:lnTo>
                  <a:pt x="1968804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6038576" y="7993995"/>
            <a:ext cx="1170432" cy="54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469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Reliable backup infrastructure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9570574" y="7062064"/>
            <a:ext cx="5020450" cy="1300906"/>
          </a:xfrm>
          <a:custGeom>
            <a:avLst/>
            <a:gdLst/>
            <a:ahLst/>
            <a:cxnLst/>
            <a:rect r="r" b="b" t="t" l="l"/>
            <a:pathLst>
              <a:path h="1300906" w="5020450">
                <a:moveTo>
                  <a:pt x="0" y="0"/>
                </a:moveTo>
                <a:lnTo>
                  <a:pt x="5020450" y="0"/>
                </a:lnTo>
                <a:lnTo>
                  <a:pt x="5020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0" y="9423373"/>
            <a:ext cx="18288000" cy="863627"/>
          </a:xfrm>
          <a:custGeom>
            <a:avLst/>
            <a:gdLst/>
            <a:ahLst/>
            <a:cxnLst/>
            <a:rect r="r" b="b" t="t" l="l"/>
            <a:pathLst>
              <a:path h="863627" w="18288000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603504" y="9608057"/>
            <a:ext cx="5029200" cy="47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SMART INDIA HACKATHON 2026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437376" y="2721435"/>
            <a:ext cx="1298448" cy="186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</a:pPr>
            <a:r>
              <a:rPr lang="en-US" sz="110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PROCESSING PIPELINE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291072" y="7005783"/>
            <a:ext cx="2231136" cy="28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sz="157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AND STORAGE LAYER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928848" y="1769700"/>
            <a:ext cx="1353312" cy="28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sz="157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CURRENT USERS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111728" y="4354108"/>
            <a:ext cx="1024128" cy="2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</a:pPr>
            <a:r>
              <a:rPr lang="en-US" sz="1429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General public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910560" y="6360073"/>
            <a:ext cx="1426464" cy="2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</a:pPr>
            <a:r>
              <a:rPr lang="en-US" sz="1429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institutional servers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111728" y="7016597"/>
            <a:ext cx="1024128" cy="5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sz="1496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High-capacity storage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155680" y="3804530"/>
            <a:ext cx="1207008" cy="25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29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FastAPI Services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789152" y="3804530"/>
            <a:ext cx="896112" cy="25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29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Web Archive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283696" y="5671568"/>
            <a:ext cx="1024128" cy="2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Cited Retrieval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569696" y="5666477"/>
            <a:ext cx="1389888" cy="25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29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Narrated Timelines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210544" y="4174144"/>
            <a:ext cx="1207008" cy="85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sz="1496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APIs for search, retrieval and management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283696" y="6024927"/>
            <a:ext cx="1024128" cy="78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3"/>
              </a:lnSpc>
            </a:pPr>
            <a:r>
              <a:rPr lang="en-US" sz="1388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Source-backed results with citations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498848" y="7709252"/>
            <a:ext cx="1097280" cy="26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7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JSON Records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352544" y="8045048"/>
            <a:ext cx="1280160" cy="55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"/>
              </a:lnSpc>
            </a:pPr>
            <a:r>
              <a:rPr lang="en-US" sz="1523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Structured archival records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492240" y="7718305"/>
            <a:ext cx="694944" cy="24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7"/>
              </a:lnSpc>
            </a:pPr>
            <a:r>
              <a:rPr lang="en-US" sz="1369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Metadata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163056" y="8064350"/>
            <a:ext cx="1280160" cy="51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3"/>
              </a:lnSpc>
            </a:pPr>
            <a:r>
              <a:rPr lang="en-US" sz="1388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Rich, standardized metadata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705088" y="7689922"/>
            <a:ext cx="475488" cy="29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606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SQL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705088" y="7689922"/>
            <a:ext cx="475488" cy="29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606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FTSS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046720" y="8054442"/>
            <a:ext cx="1243584" cy="53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3"/>
              </a:lnSpc>
            </a:pPr>
            <a:r>
              <a:rPr lang="en-US" sz="1442">
                <a:solidFill>
                  <a:srgbClr val="1A3D8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Full-text indexing and search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602849"/>
            <a:ext cx="10424160" cy="94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3"/>
              </a:lnSpc>
            </a:pPr>
            <a:r>
              <a:rPr lang="en-US" sz="7123" b="true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FEASIBILITY AND VIABILITY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368" y="1505195"/>
            <a:ext cx="12582144" cy="44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893">
                <a:solidFill>
                  <a:srgbClr val="133E8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practical path to build and sustain the Dr. B. R. Ambedkar Digital Heritage Archive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350377"/>
            <a:ext cx="3926670" cy="3443576"/>
          </a:xfrm>
          <a:custGeom>
            <a:avLst/>
            <a:gdLst/>
            <a:ahLst/>
            <a:cxnLst/>
            <a:rect r="r" b="b" t="t" l="l"/>
            <a:pathLst>
              <a:path h="3443576" w="3926670">
                <a:moveTo>
                  <a:pt x="0" y="0"/>
                </a:moveTo>
                <a:lnTo>
                  <a:pt x="3926670" y="0"/>
                </a:lnTo>
                <a:lnTo>
                  <a:pt x="3926670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15568" y="2744472"/>
            <a:ext cx="2249424" cy="28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b="true" sz="1819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TECHNICAL READINESS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720" y="3290660"/>
            <a:ext cx="2103120" cy="163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>
                <a:solidFill>
                  <a:srgbClr val="133E8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Proven open-source technologies and scalable architecture for secure, reliable delivery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5564382"/>
            <a:ext cx="3926670" cy="3443576"/>
          </a:xfrm>
          <a:custGeom>
            <a:avLst/>
            <a:gdLst/>
            <a:ahLst/>
            <a:cxnLst/>
            <a:rect r="r" b="b" t="t" l="l"/>
            <a:pathLst>
              <a:path h="3443576" w="3926670">
                <a:moveTo>
                  <a:pt x="0" y="0"/>
                </a:moveTo>
                <a:lnTo>
                  <a:pt x="3926670" y="0"/>
                </a:lnTo>
                <a:lnTo>
                  <a:pt x="3926670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15568" y="6849962"/>
            <a:ext cx="2249424" cy="163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>
                <a:solidFill>
                  <a:srgbClr val="133E8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Strong relevance for scholars, students and citizens; research and validation in progress (research pending)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572000" y="2350377"/>
            <a:ext cx="4145426" cy="3443576"/>
          </a:xfrm>
          <a:custGeom>
            <a:avLst/>
            <a:gdLst/>
            <a:ahLst/>
            <a:cxnLst/>
            <a:rect r="r" b="b" t="t" l="l"/>
            <a:pathLst>
              <a:path h="3443576" w="4145426">
                <a:moveTo>
                  <a:pt x="0" y="0"/>
                </a:moveTo>
                <a:lnTo>
                  <a:pt x="4145426" y="0"/>
                </a:lnTo>
                <a:lnTo>
                  <a:pt x="414542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943600" y="3290660"/>
            <a:ext cx="2249424" cy="163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>
                <a:solidFill>
                  <a:srgbClr val="133E8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Clear cost categories with phased budgeting and sustainable funding approach (estimates pending)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572000" y="5564382"/>
            <a:ext cx="4145426" cy="3443576"/>
          </a:xfrm>
          <a:custGeom>
            <a:avLst/>
            <a:gdLst/>
            <a:ahLst/>
            <a:cxnLst/>
            <a:rect r="r" b="b" t="t" l="l"/>
            <a:pathLst>
              <a:path h="3443576" w="4145426">
                <a:moveTo>
                  <a:pt x="0" y="0"/>
                </a:moveTo>
                <a:lnTo>
                  <a:pt x="4145426" y="0"/>
                </a:lnTo>
                <a:lnTo>
                  <a:pt x="4145426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60720" y="6266910"/>
            <a:ext cx="2651760" cy="64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b="true" sz="1857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OPERATIONAL GOVERNANCE &amp; SUPPORT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80176" y="7147673"/>
            <a:ext cx="2194560" cy="130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>
                <a:solidFill>
                  <a:srgbClr val="133E8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Defined roles, policies and support model to ensure long-term trust and continuity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478220" y="4285339"/>
            <a:ext cx="2406316" cy="2579949"/>
          </a:xfrm>
          <a:custGeom>
            <a:avLst/>
            <a:gdLst/>
            <a:ahLst/>
            <a:cxnLst/>
            <a:rect r="r" b="b" t="t" l="l"/>
            <a:pathLst>
              <a:path h="2579949" w="2406316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785616" y="4660915"/>
            <a:ext cx="1682496" cy="192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b="true" sz="2554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DR. B. R. AMBEDKAR DIGITAL HERITAGE ARCHIVE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23776" y="2336846"/>
            <a:ext cx="2340864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b="true" sz="2142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RISK TO MITIGATION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925244" y="2569017"/>
            <a:ext cx="8498670" cy="218640"/>
          </a:xfrm>
          <a:custGeom>
            <a:avLst/>
            <a:gdLst/>
            <a:ahLst/>
            <a:cxnLst/>
            <a:rect r="r" b="b" t="t" l="l"/>
            <a:pathLst>
              <a:path h="218640" w="8498670">
                <a:moveTo>
                  <a:pt x="0" y="0"/>
                </a:moveTo>
                <a:lnTo>
                  <a:pt x="8498670" y="0"/>
                </a:lnTo>
                <a:lnTo>
                  <a:pt x="849867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925244" y="3421712"/>
            <a:ext cx="3707914" cy="1300906"/>
          </a:xfrm>
          <a:custGeom>
            <a:avLst/>
            <a:gdLst/>
            <a:ahLst/>
            <a:cxnLst/>
            <a:rect r="r" b="b" t="t" l="l"/>
            <a:pathLst>
              <a:path h="1300906" w="3707914">
                <a:moveTo>
                  <a:pt x="0" y="0"/>
                </a:moveTo>
                <a:lnTo>
                  <a:pt x="3707914" y="0"/>
                </a:lnTo>
                <a:lnTo>
                  <a:pt x="370791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326880" y="3746595"/>
            <a:ext cx="2907792" cy="64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b="true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Fragmented and inconsistent source materials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622220" y="3848060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278488" y="3421712"/>
            <a:ext cx="4145426" cy="1300906"/>
          </a:xfrm>
          <a:custGeom>
            <a:avLst/>
            <a:gdLst/>
            <a:ahLst/>
            <a:cxnLst/>
            <a:rect r="r" b="b" t="t" l="l"/>
            <a:pathLst>
              <a:path h="1300906" w="4145426">
                <a:moveTo>
                  <a:pt x="0" y="0"/>
                </a:moveTo>
                <a:lnTo>
                  <a:pt x="4145426" y="0"/>
                </a:lnTo>
                <a:lnTo>
                  <a:pt x="414542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752576" y="3746595"/>
            <a:ext cx="3218688" cy="64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b="true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Standardize ingestion, metadata and citation practices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925244" y="4919394"/>
            <a:ext cx="3707914" cy="1300906"/>
          </a:xfrm>
          <a:custGeom>
            <a:avLst/>
            <a:gdLst/>
            <a:ahLst/>
            <a:cxnLst/>
            <a:rect r="r" b="b" t="t" l="l"/>
            <a:pathLst>
              <a:path h="1300906" w="3707914">
                <a:moveTo>
                  <a:pt x="0" y="0"/>
                </a:moveTo>
                <a:lnTo>
                  <a:pt x="3707914" y="0"/>
                </a:lnTo>
                <a:lnTo>
                  <a:pt x="370791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710928" y="5217636"/>
            <a:ext cx="2157984" cy="64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b="true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Data accuracy and authenticity concerns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2622220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278488" y="4919394"/>
            <a:ext cx="4145426" cy="1300906"/>
          </a:xfrm>
          <a:custGeom>
            <a:avLst/>
            <a:gdLst/>
            <a:ahLst/>
            <a:cxnLst/>
            <a:rect r="r" b="b" t="t" l="l"/>
            <a:pathLst>
              <a:path h="1300906" w="4145426">
                <a:moveTo>
                  <a:pt x="0" y="0"/>
                </a:moveTo>
                <a:lnTo>
                  <a:pt x="4145426" y="0"/>
                </a:lnTo>
                <a:lnTo>
                  <a:pt x="414542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752576" y="5217636"/>
            <a:ext cx="3218688" cy="64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b="true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Implement verification workflow and source-backed citations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925244" y="6209369"/>
            <a:ext cx="3707914" cy="1508614"/>
          </a:xfrm>
          <a:custGeom>
            <a:avLst/>
            <a:gdLst/>
            <a:ahLst/>
            <a:cxnLst/>
            <a:rect r="r" b="b" t="t" l="l"/>
            <a:pathLst>
              <a:path h="1508614" w="3707914">
                <a:moveTo>
                  <a:pt x="0" y="0"/>
                </a:moveTo>
                <a:lnTo>
                  <a:pt x="3707914" y="0"/>
                </a:lnTo>
                <a:lnTo>
                  <a:pt x="3707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564624" y="6668103"/>
            <a:ext cx="2432304" cy="64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b="true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Sustained funding</a:t>
            </a:r>
          </a:p>
          <a:p>
            <a:pPr algn="ctr">
              <a:lnSpc>
                <a:spcPts val="2599"/>
              </a:lnSpc>
            </a:pPr>
            <a:r>
              <a:rPr lang="en-US" sz="1857" b="true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and resource constraints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622220" y="6854356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278488" y="6209369"/>
            <a:ext cx="4145426" cy="1508614"/>
          </a:xfrm>
          <a:custGeom>
            <a:avLst/>
            <a:gdLst/>
            <a:ahLst/>
            <a:cxnLst/>
            <a:rect r="r" b="b" t="t" l="l"/>
            <a:pathLst>
              <a:path h="1508614" w="4145426">
                <a:moveTo>
                  <a:pt x="0" y="0"/>
                </a:moveTo>
                <a:lnTo>
                  <a:pt x="4145426" y="0"/>
                </a:lnTo>
                <a:lnTo>
                  <a:pt x="414542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3807440" y="6668103"/>
            <a:ext cx="3072384" cy="64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b="true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Adopt phased rollout and multi-source funding approach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8925244" y="7707051"/>
            <a:ext cx="3707914" cy="1300906"/>
          </a:xfrm>
          <a:custGeom>
            <a:avLst/>
            <a:gdLst/>
            <a:ahLst/>
            <a:cxnLst/>
            <a:rect r="r" b="b" t="t" l="l"/>
            <a:pathLst>
              <a:path h="1300906" w="3707914">
                <a:moveTo>
                  <a:pt x="0" y="0"/>
                </a:moveTo>
                <a:lnTo>
                  <a:pt x="3707914" y="0"/>
                </a:lnTo>
                <a:lnTo>
                  <a:pt x="370791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674352" y="8087709"/>
            <a:ext cx="2249424" cy="64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b="true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Long-term technology and operations risk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2622220" y="8133399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278488" y="7707051"/>
            <a:ext cx="4145426" cy="1300906"/>
          </a:xfrm>
          <a:custGeom>
            <a:avLst/>
            <a:gdLst/>
            <a:ahLst/>
            <a:cxnLst/>
            <a:rect r="r" b="b" t="t" l="l"/>
            <a:pathLst>
              <a:path h="1300906" w="4145426">
                <a:moveTo>
                  <a:pt x="0" y="0"/>
                </a:moveTo>
                <a:lnTo>
                  <a:pt x="4145426" y="0"/>
                </a:lnTo>
                <a:lnTo>
                  <a:pt x="414542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3880592" y="8087709"/>
            <a:ext cx="2962656" cy="64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b="true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Use open standards, backups and defined governance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0" y="9204733"/>
            <a:ext cx="18288000" cy="1082267"/>
          </a:xfrm>
          <a:custGeom>
            <a:avLst/>
            <a:gdLst/>
            <a:ahLst/>
            <a:cxnLst/>
            <a:rect r="r" b="b" t="t" l="l"/>
            <a:pathLst>
              <a:path h="1082267" w="18288000">
                <a:moveTo>
                  <a:pt x="0" y="0"/>
                </a:moveTo>
                <a:lnTo>
                  <a:pt x="18288000" y="0"/>
                </a:lnTo>
                <a:lnTo>
                  <a:pt x="1828800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548640" y="9642212"/>
            <a:ext cx="5029200" cy="44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893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SMART INDIA HACKATHON 2026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5892622" y="9204733"/>
            <a:ext cx="2395378" cy="1082267"/>
          </a:xfrm>
          <a:custGeom>
            <a:avLst/>
            <a:gdLst/>
            <a:ahLst/>
            <a:cxnLst/>
            <a:rect r="r" b="b" t="t" l="l"/>
            <a:pathLst>
              <a:path h="1082267" w="2395378">
                <a:moveTo>
                  <a:pt x="0" y="0"/>
                </a:moveTo>
                <a:lnTo>
                  <a:pt x="2395378" y="0"/>
                </a:lnTo>
                <a:lnTo>
                  <a:pt x="239537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152144" y="6200904"/>
            <a:ext cx="2157984" cy="28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8"/>
              </a:lnSpc>
            </a:pPr>
            <a:r>
              <a:rPr lang="en-US" b="true" sz="1857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USER &amp; MARKET NEED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016752" y="2744472"/>
            <a:ext cx="2066544" cy="28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b="true" sz="1819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FINANCIAL VIABILITY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69296" y="2999050"/>
            <a:ext cx="877824" cy="29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true" sz="1606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KEY RISKS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538960" y="3004140"/>
            <a:ext cx="1536192" cy="28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b="true" sz="1577">
                <a:solidFill>
                  <a:srgbClr val="133E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MITIGATION PLAN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656" y="642347"/>
            <a:ext cx="8759952" cy="95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7"/>
              </a:lnSpc>
            </a:pPr>
            <a:r>
              <a:rPr lang="en-US" sz="7227" b="true">
                <a:solidFill>
                  <a:srgbClr val="1A3D7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IMPACT AND BENEFITS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3232" y="1651082"/>
            <a:ext cx="8595360" cy="38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2912">
                <a:solidFill>
                  <a:srgbClr val="1A3D7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Value for every stakeholder, lasting impact for generations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569017"/>
            <a:ext cx="3500096" cy="1727254"/>
          </a:xfrm>
          <a:custGeom>
            <a:avLst/>
            <a:gdLst/>
            <a:ahLst/>
            <a:cxnLst/>
            <a:rect r="r" b="b" t="t" l="l"/>
            <a:pathLst>
              <a:path h="1727254" w="3500096">
                <a:moveTo>
                  <a:pt x="0" y="0"/>
                </a:moveTo>
                <a:lnTo>
                  <a:pt x="3500096" y="0"/>
                </a:lnTo>
                <a:lnTo>
                  <a:pt x="350009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2688" y="2940867"/>
            <a:ext cx="1207008" cy="28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2142" b="true">
                <a:solidFill>
                  <a:srgbClr val="1A3D7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STUDENTS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2688" y="3338844"/>
            <a:ext cx="2633472" cy="53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781">
                <a:solidFill>
                  <a:srgbClr val="1A3D7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Easy access to authentic resources for deeper learning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4285339"/>
            <a:ext cx="3500096" cy="1508614"/>
          </a:xfrm>
          <a:custGeom>
            <a:avLst/>
            <a:gdLst/>
            <a:ahLst/>
            <a:cxnLst/>
            <a:rect r="r" b="b" t="t" l="l"/>
            <a:pathLst>
              <a:path h="1508614" w="3500096">
                <a:moveTo>
                  <a:pt x="0" y="0"/>
                </a:moveTo>
                <a:lnTo>
                  <a:pt x="3500096" y="0"/>
                </a:lnTo>
                <a:lnTo>
                  <a:pt x="350009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32688" y="4597382"/>
            <a:ext cx="1627632" cy="28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8"/>
              </a:lnSpc>
            </a:pPr>
            <a:r>
              <a:rPr lang="en-US" sz="2118" b="true">
                <a:solidFill>
                  <a:srgbClr val="1A3D7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RESEARCHERS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2688" y="5005983"/>
            <a:ext cx="2194560" cy="51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706">
                <a:solidFill>
                  <a:srgbClr val="1A3D7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Reliable, credible sources that enable new insights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5990729"/>
            <a:ext cx="3500096" cy="1519546"/>
          </a:xfrm>
          <a:custGeom>
            <a:avLst/>
            <a:gdLst/>
            <a:ahLst/>
            <a:cxnLst/>
            <a:rect r="r" b="b" t="t" l="l"/>
            <a:pathLst>
              <a:path h="1519546" w="3500096">
                <a:moveTo>
                  <a:pt x="0" y="0"/>
                </a:moveTo>
                <a:lnTo>
                  <a:pt x="3500096" y="0"/>
                </a:lnTo>
                <a:lnTo>
                  <a:pt x="350009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2688" y="6294429"/>
            <a:ext cx="1389888" cy="28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2142" b="true">
                <a:solidFill>
                  <a:srgbClr val="1A3D7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ARCHIVISTS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2688" y="6701931"/>
            <a:ext cx="2962656" cy="52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1744">
                <a:solidFill>
                  <a:srgbClr val="1A3D7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Better tools to organize, preserve, and manage collections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779818" y="2569017"/>
            <a:ext cx="4364182" cy="4503979"/>
          </a:xfrm>
          <a:custGeom>
            <a:avLst/>
            <a:gdLst/>
            <a:ahLst/>
            <a:cxnLst/>
            <a:rect r="r" b="b" t="t" l="l"/>
            <a:pathLst>
              <a:path h="4503979" w="4364182">
                <a:moveTo>
                  <a:pt x="0" y="0"/>
                </a:moveTo>
                <a:lnTo>
                  <a:pt x="4364182" y="0"/>
                </a:lnTo>
                <a:lnTo>
                  <a:pt x="4364182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089904" y="3604197"/>
            <a:ext cx="1920240" cy="194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306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DR. B. R. AMBEDKAR DIGITAL HERITAGE ARCHIVE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89904" y="5724783"/>
            <a:ext cx="1920240" cy="55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181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Preserving legacy, Empowering futures.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134488" y="3214004"/>
            <a:ext cx="1312536" cy="644987"/>
          </a:xfrm>
          <a:custGeom>
            <a:avLst/>
            <a:gdLst/>
            <a:ahLst/>
            <a:cxnLst/>
            <a:rect r="r" b="b" t="t" l="l"/>
            <a:pathLst>
              <a:path h="644987" w="1312536">
                <a:moveTo>
                  <a:pt x="0" y="0"/>
                </a:moveTo>
                <a:lnTo>
                  <a:pt x="1312536" y="0"/>
                </a:lnTo>
                <a:lnTo>
                  <a:pt x="131253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134488" y="4919394"/>
            <a:ext cx="875024" cy="229572"/>
          </a:xfrm>
          <a:custGeom>
            <a:avLst/>
            <a:gdLst/>
            <a:ahLst/>
            <a:cxnLst/>
            <a:rect r="r" b="b" t="t" l="l"/>
            <a:pathLst>
              <a:path h="229572" w="875024">
                <a:moveTo>
                  <a:pt x="0" y="0"/>
                </a:moveTo>
                <a:lnTo>
                  <a:pt x="875024" y="0"/>
                </a:lnTo>
                <a:lnTo>
                  <a:pt x="87502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134488" y="5783021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87732" y="3421712"/>
            <a:ext cx="1531292" cy="655919"/>
          </a:xfrm>
          <a:custGeom>
            <a:avLst/>
            <a:gdLst/>
            <a:ahLst/>
            <a:cxnLst/>
            <a:rect r="r" b="b" t="t" l="l"/>
            <a:pathLst>
              <a:path h="655919" w="1531292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706488" y="5356674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748622" y="7062064"/>
            <a:ext cx="437512" cy="874559"/>
          </a:xfrm>
          <a:custGeom>
            <a:avLst/>
            <a:gdLst/>
            <a:ahLst/>
            <a:cxnLst/>
            <a:rect r="r" b="b" t="t" l="l"/>
            <a:pathLst>
              <a:path h="874559" w="437512">
                <a:moveTo>
                  <a:pt x="0" y="0"/>
                </a:moveTo>
                <a:lnTo>
                  <a:pt x="437512" y="0"/>
                </a:lnTo>
                <a:lnTo>
                  <a:pt x="43751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789330" y="2776725"/>
            <a:ext cx="3500096" cy="1727254"/>
          </a:xfrm>
          <a:custGeom>
            <a:avLst/>
            <a:gdLst/>
            <a:ahLst/>
            <a:cxnLst/>
            <a:rect r="r" b="b" t="t" l="l"/>
            <a:pathLst>
              <a:path h="1727254" w="3500096">
                <a:moveTo>
                  <a:pt x="0" y="0"/>
                </a:moveTo>
                <a:lnTo>
                  <a:pt x="3500096" y="0"/>
                </a:lnTo>
                <a:lnTo>
                  <a:pt x="350009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168128" y="3166007"/>
            <a:ext cx="2743200" cy="27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940" b="true">
                <a:solidFill>
                  <a:srgbClr val="1A3D7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INSTITUTIONAL VISITORS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68128" y="3575445"/>
            <a:ext cx="2651760" cy="53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781">
                <a:solidFill>
                  <a:srgbClr val="1A3D7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Curated narratives that enrich institutional experience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789330" y="4711687"/>
            <a:ext cx="3500096" cy="1934962"/>
          </a:xfrm>
          <a:custGeom>
            <a:avLst/>
            <a:gdLst/>
            <a:ahLst/>
            <a:cxnLst/>
            <a:rect r="r" b="b" t="t" l="l"/>
            <a:pathLst>
              <a:path h="1934962" w="3500096">
                <a:moveTo>
                  <a:pt x="0" y="0"/>
                </a:moveTo>
                <a:lnTo>
                  <a:pt x="3500096" y="0"/>
                </a:lnTo>
                <a:lnTo>
                  <a:pt x="350009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168128" y="5080563"/>
            <a:ext cx="822960" cy="28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2142" b="true">
                <a:solidFill>
                  <a:srgbClr val="1A3D7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PUBLIC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68128" y="5501661"/>
            <a:ext cx="2267712" cy="79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781">
                <a:solidFill>
                  <a:srgbClr val="1A3D7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Open access that builds constitutional awareness and civic pride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64086" y="7707051"/>
            <a:ext cx="11987828" cy="1300906"/>
          </a:xfrm>
          <a:custGeom>
            <a:avLst/>
            <a:gdLst/>
            <a:ahLst/>
            <a:cxnLst/>
            <a:rect r="r" b="b" t="t" l="l"/>
            <a:pathLst>
              <a:path h="1300906" w="11987828">
                <a:moveTo>
                  <a:pt x="0" y="0"/>
                </a:moveTo>
                <a:lnTo>
                  <a:pt x="11987828" y="0"/>
                </a:lnTo>
                <a:lnTo>
                  <a:pt x="1198782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89888" y="8228385"/>
            <a:ext cx="1353312" cy="28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42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DISCOVERY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2821952" y="7925691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236976" y="8228385"/>
            <a:ext cx="1792224" cy="28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42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PRESERVATION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5217330" y="7925691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522976" y="8228385"/>
            <a:ext cx="2706624" cy="28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42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ACCESSIBLE LEARNING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8268976" y="7925691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8723376" y="8228385"/>
            <a:ext cx="3657600" cy="28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42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CONSTITUTIONAL AWARENESS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0" y="9423373"/>
            <a:ext cx="18288000" cy="863627"/>
          </a:xfrm>
          <a:custGeom>
            <a:avLst/>
            <a:gdLst/>
            <a:ahLst/>
            <a:cxnLst/>
            <a:rect r="r" b="b" t="t" l="l"/>
            <a:pathLst>
              <a:path h="863627" w="18288000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603504" y="9714745"/>
            <a:ext cx="5029200" cy="36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723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SMART INDIA HACKATHON 2026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3497244" y="2142670"/>
            <a:ext cx="4790756" cy="7510275"/>
          </a:xfrm>
          <a:custGeom>
            <a:avLst/>
            <a:gdLst/>
            <a:ahLst/>
            <a:cxnLst/>
            <a:rect r="r" b="b" t="t" l="l"/>
            <a:pathLst>
              <a:path h="7510275" w="4790756">
                <a:moveTo>
                  <a:pt x="0" y="0"/>
                </a:moveTo>
                <a:lnTo>
                  <a:pt x="4790756" y="0"/>
                </a:lnTo>
                <a:lnTo>
                  <a:pt x="4790756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944" y="654284"/>
            <a:ext cx="11100816" cy="94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3"/>
              </a:lnSpc>
            </a:pPr>
            <a:r>
              <a:rPr lang="en-US" sz="7123" b="true">
                <a:solidFill>
                  <a:srgbClr val="184A9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RESEARCH AND 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4944" y="1655066"/>
            <a:ext cx="7406640" cy="39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978">
                <a:solidFill>
                  <a:srgbClr val="184A9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Grounded in primary works and archival records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214004"/>
            <a:ext cx="448450" cy="1289974"/>
          </a:xfrm>
          <a:custGeom>
            <a:avLst/>
            <a:gdLst/>
            <a:ahLst/>
            <a:cxnLst/>
            <a:rect r="r" b="b" t="t" l="l"/>
            <a:pathLst>
              <a:path h="1289974" w="448450">
                <a:moveTo>
                  <a:pt x="0" y="0"/>
                </a:moveTo>
                <a:lnTo>
                  <a:pt x="448450" y="0"/>
                </a:lnTo>
                <a:lnTo>
                  <a:pt x="44845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3214004"/>
            <a:ext cx="9154938" cy="1289974"/>
          </a:xfrm>
          <a:custGeom>
            <a:avLst/>
            <a:gdLst/>
            <a:ahLst/>
            <a:cxnLst/>
            <a:rect r="r" b="b" t="t" l="l"/>
            <a:pathLst>
              <a:path h="1289974" w="9154938">
                <a:moveTo>
                  <a:pt x="0" y="0"/>
                </a:moveTo>
                <a:lnTo>
                  <a:pt x="9154938" y="0"/>
                </a:lnTo>
                <a:lnTo>
                  <a:pt x="9154938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52144" y="3732855"/>
            <a:ext cx="6894576" cy="36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723" b="true">
                <a:solidFill>
                  <a:srgbClr val="184A9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Annihilation of Caste – BAWS Vol. 1, pp. 23–96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6574" y="4493047"/>
            <a:ext cx="448450" cy="1300906"/>
          </a:xfrm>
          <a:custGeom>
            <a:avLst/>
            <a:gdLst/>
            <a:ahLst/>
            <a:cxnLst/>
            <a:rect r="r" b="b" t="t" l="l"/>
            <a:pathLst>
              <a:path h="1300906" w="448450">
                <a:moveTo>
                  <a:pt x="0" y="0"/>
                </a:moveTo>
                <a:lnTo>
                  <a:pt x="448450" y="0"/>
                </a:lnTo>
                <a:lnTo>
                  <a:pt x="448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5330" y="4493047"/>
            <a:ext cx="9154938" cy="1300906"/>
          </a:xfrm>
          <a:custGeom>
            <a:avLst/>
            <a:gdLst/>
            <a:ahLst/>
            <a:cxnLst/>
            <a:rect r="r" b="b" t="t" l="l"/>
            <a:pathLst>
              <a:path h="1300906" w="9154938">
                <a:moveTo>
                  <a:pt x="0" y="0"/>
                </a:moveTo>
                <a:lnTo>
                  <a:pt x="9154938" y="0"/>
                </a:lnTo>
                <a:lnTo>
                  <a:pt x="915493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52144" y="4946721"/>
            <a:ext cx="7808976" cy="36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723" b="true">
                <a:solidFill>
                  <a:srgbClr val="184A9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Constituent Assembly Debates – Vol. XI, pp. 972–984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6574" y="5783021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5330" y="5783021"/>
            <a:ext cx="9154938" cy="1082267"/>
          </a:xfrm>
          <a:custGeom>
            <a:avLst/>
            <a:gdLst/>
            <a:ahLst/>
            <a:cxnLst/>
            <a:rect r="r" b="b" t="t" l="l"/>
            <a:pathLst>
              <a:path h="1082267" w="9154938">
                <a:moveTo>
                  <a:pt x="0" y="0"/>
                </a:moveTo>
                <a:lnTo>
                  <a:pt x="9154938" y="0"/>
                </a:lnTo>
                <a:lnTo>
                  <a:pt x="915493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52144" y="6160587"/>
            <a:ext cx="8010144" cy="36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723" b="true">
                <a:solidFill>
                  <a:srgbClr val="184A9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The Problem of the Rupee – BAWS Vol. 6, pp. 315–620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26574" y="6854356"/>
            <a:ext cx="448450" cy="1289974"/>
          </a:xfrm>
          <a:custGeom>
            <a:avLst/>
            <a:gdLst/>
            <a:ahLst/>
            <a:cxnLst/>
            <a:rect r="r" b="b" t="t" l="l"/>
            <a:pathLst>
              <a:path h="1289974" w="448450">
                <a:moveTo>
                  <a:pt x="0" y="0"/>
                </a:moveTo>
                <a:lnTo>
                  <a:pt x="448450" y="0"/>
                </a:lnTo>
                <a:lnTo>
                  <a:pt x="44845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5330" y="6854356"/>
            <a:ext cx="9154938" cy="1289974"/>
          </a:xfrm>
          <a:custGeom>
            <a:avLst/>
            <a:gdLst/>
            <a:ahLst/>
            <a:cxnLst/>
            <a:rect r="r" b="b" t="t" l="l"/>
            <a:pathLst>
              <a:path h="1289974" w="9154938">
                <a:moveTo>
                  <a:pt x="0" y="0"/>
                </a:moveTo>
                <a:lnTo>
                  <a:pt x="9154938" y="0"/>
                </a:lnTo>
                <a:lnTo>
                  <a:pt x="915493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52144" y="7374453"/>
            <a:ext cx="6986016" cy="36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723" b="true">
                <a:solidFill>
                  <a:srgbClr val="184A9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Waiting for a Visa – BAWS Vol. 12, pp. 661–691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789330" y="0"/>
            <a:ext cx="8498670" cy="9652945"/>
          </a:xfrm>
          <a:custGeom>
            <a:avLst/>
            <a:gdLst/>
            <a:ahLst/>
            <a:cxnLst/>
            <a:rect r="r" b="b" t="t" l="l"/>
            <a:pathLst>
              <a:path h="9652945" w="8498670">
                <a:moveTo>
                  <a:pt x="0" y="0"/>
                </a:moveTo>
                <a:lnTo>
                  <a:pt x="8498670" y="0"/>
                </a:lnTo>
                <a:lnTo>
                  <a:pt x="8498670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0" y="9423373"/>
            <a:ext cx="18288000" cy="863627"/>
          </a:xfrm>
          <a:custGeom>
            <a:avLst/>
            <a:gdLst/>
            <a:ahLst/>
            <a:cxnLst/>
            <a:rect r="r" b="b" t="t" l="l"/>
            <a:pathLst>
              <a:path h="863627" w="18288000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85216" y="9730176"/>
            <a:ext cx="5047488" cy="36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723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SMART INDIA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DAHWsdZUDLI</dc:identifier>
  <dcterms:modified xsi:type="dcterms:W3CDTF">2011-08-01T06:04:30Z</dcterms:modified>
  <cp:revision>1</cp:revision>
  <dc:title>Ambedkar Heritage Archive</dc:title>
</cp:coreProperties>
</file>