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6309360" cy="3063240"/>
          </a:xfrm>
          <a:prstGeom prst="rect">
            <a:avLst/>
          </a:prstGeom>
          <a:noFill/>
        </p:spPr>
        <p:txBody>
          <a:bodyPr wrap="square" rtlCol="0" lIns="73152" rIns="73152" anchor="ctr">
            <a:spAutoFit/>
          </a:bodyPr>
          <a:lstStyle/>
          <a:p>
            <a:pPr algn="l"/>
            <a:r>
              <a:rPr sz="1700" b="0">
                <a:solidFill>
                  <a:srgbClr val="252E36"/>
                </a:solidFill>
                <a:latin typeface="Aptos"/>
              </a:rPr>
              <a:t>Problem Statement ID – 26096
Problem Statement Title – [VERIFY EXACT TITLE ON SIH PORTAL]
Theme – Smart Education
PS Category – Hardware (with Integrated Software)
Team ID – [FILL FROM SIH PORTAL]
Team Name – [FILL EXACTLY AS REGISTERED]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02920" y="5440680"/>
            <a:ext cx="5715000" cy="502920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40" b="1">
                <a:solidFill>
                  <a:srgbClr val="194368"/>
                </a:solidFill>
                <a:latin typeface="Aptos"/>
              </a:rPr>
              <a:t>AI-POWERED INSTITUTIONAL ARCHIVE • AUDIO-VISUAL KNOWLEDGE PLATFORM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989320"/>
            <a:ext cx="1783080" cy="384048"/>
          </a:xfrm>
          <a:prstGeom prst="roundRect">
            <a:avLst/>
          </a:prstGeom>
          <a:solidFill>
            <a:srgbClr val="EF7B19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530 RECORDS*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23160" y="5989320"/>
            <a:ext cx="1874519" cy="384048"/>
          </a:xfrm>
          <a:prstGeom prst="roundRect">
            <a:avLst/>
          </a:prstGeom>
          <a:solidFill>
            <a:srgbClr val="44944E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86,624 WORDS*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5989320"/>
            <a:ext cx="1783080" cy="384048"/>
          </a:xfrm>
          <a:prstGeom prst="roundRect">
            <a:avLst/>
          </a:prstGeom>
          <a:solidFill>
            <a:srgbClr val="27669E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835 CHUNKS*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09944"/>
            <a:ext cx="5303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>
                <a:solidFill>
                  <a:srgbClr val="636F79"/>
                </a:solidFill>
                <a:latin typeface="Aptos"/>
              </a:rPr>
              <a:t>*Reported baseline inventory dated 25 Sep 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960120"/>
            <a:ext cx="6400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2400" b="1">
                <a:solidFill>
                  <a:srgbClr val="194368"/>
                </a:solidFill>
                <a:latin typeface="Aptos"/>
              </a:rPr>
              <a:t>DR. B. R. AMBEDKAR DIGITAL HERITAGE ARCHIVE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1664208"/>
            <a:ext cx="6172200" cy="31089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27669E"/>
                </a:solidFill>
                <a:latin typeface="Aptos"/>
              </a:rPr>
              <a:t>AI-Powered Institutional Archive &amp; Audio-Visual Knowledge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321808"/>
            <a:ext cx="1874519" cy="438912"/>
          </a:xfrm>
          <a:prstGeom prst="roundRect">
            <a:avLst/>
          </a:prstGeom>
          <a:solidFill>
            <a:srgbClr val="EF7B19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530 RECORDS*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4600" y="5321808"/>
            <a:ext cx="2011680" cy="438912"/>
          </a:xfrm>
          <a:prstGeom prst="roundRect">
            <a:avLst/>
          </a:prstGeom>
          <a:solidFill>
            <a:srgbClr val="44944E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86,624 WORDS*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5321808"/>
            <a:ext cx="1874519" cy="438912"/>
          </a:xfrm>
          <a:prstGeom prst="roundRect">
            <a:avLst/>
          </a:prstGeom>
          <a:solidFill>
            <a:srgbClr val="27669E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835 CHUNKS*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5833872"/>
            <a:ext cx="6035040" cy="2286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/>
            <a:r>
              <a:rPr sz="850" b="0">
                <a:solidFill>
                  <a:srgbClr val="636F79"/>
                </a:solidFill>
                <a:latin typeface="Aptos"/>
              </a:rPr>
              <a:t>*Reported baseline inventory dated 25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45720" rIns="45720" anchor="ctr"/>
          <a:lstStyle/>
          <a:p>
            <a:pPr eaLnBrk="1" hangingPunct="1" algn="l"/>
            <a:r>
              <a:rPr sz="2400" b="1">
                <a:solidFill>
                  <a:srgbClr val="FFFFFF"/>
                </a:solidFill>
                <a:latin typeface="Aptos"/>
              </a:rPr>
              <a:t>IDEA TITLE  | 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94368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38912" y="1298448"/>
            <a:ext cx="32918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94368"/>
                </a:solidFill>
                <a:latin typeface="Aptos"/>
              </a:rPr>
              <a:t>CHALLENGES AND PROBLEMS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8912" y="1664208"/>
            <a:ext cx="5257800" cy="67665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Oval 15363"/>
          <p:cNvSpPr/>
          <p:nvPr/>
        </p:nvSpPr>
        <p:spPr>
          <a:xfrm>
            <a:off x="557784" y="1783080"/>
            <a:ext cx="438912" cy="438912"/>
          </a:xfrm>
          <a:prstGeom prst="ellipse">
            <a:avLst/>
          </a:prstGeom>
          <a:solidFill>
            <a:srgbClr val="EF7B19"/>
          </a:solidFill>
          <a:ln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1078992" y="1737360"/>
            <a:ext cx="15087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252E36"/>
                </a:solidFill>
                <a:latin typeface="Aptos"/>
              </a:rPr>
              <a:t>Fragmented sources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606040" y="1737360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>
                <a:solidFill>
                  <a:srgbClr val="636F79"/>
                </a:solidFill>
                <a:latin typeface="Aptos"/>
              </a:rPr>
              <a:t>Writings, speeches, debates and historical records sit across separate repositories and formats.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38912" y="2468880"/>
            <a:ext cx="5257800" cy="67665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Oval 15367"/>
          <p:cNvSpPr/>
          <p:nvPr/>
        </p:nvSpPr>
        <p:spPr>
          <a:xfrm>
            <a:off x="557784" y="2587752"/>
            <a:ext cx="438912" cy="438912"/>
          </a:xfrm>
          <a:prstGeom prst="ellipse">
            <a:avLst/>
          </a:prstGeom>
          <a:solidFill>
            <a:srgbClr val="45A8A5"/>
          </a:solidFill>
          <a:ln>
            <a:solidFill>
              <a:srgbClr val="45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078992" y="2542032"/>
            <a:ext cx="15087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252E36"/>
                </a:solidFill>
                <a:latin typeface="Aptos"/>
              </a:rPr>
              <a:t>Limited intelligent access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606040" y="2542032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>
                <a:solidFill>
                  <a:srgbClr val="636F79"/>
                </a:solidFill>
                <a:latin typeface="Aptos"/>
              </a:rPr>
              <a:t>Visitors need one place to search, browse, read and trace source records.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38912" y="3273552"/>
            <a:ext cx="5257800" cy="67665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557784" y="3392424"/>
            <a:ext cx="438912" cy="438912"/>
          </a:xfrm>
          <a:prstGeom prst="ellipse">
            <a:avLst/>
          </a:prstGeom>
          <a:solidFill>
            <a:srgbClr val="44944E"/>
          </a:solidFill>
          <a:ln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078992" y="3346704"/>
            <a:ext cx="15087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252E36"/>
                </a:solidFill>
                <a:latin typeface="Aptos"/>
              </a:rPr>
              <a:t>Archive-quality workflow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2606040" y="3346704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>
                <a:solidFill>
                  <a:srgbClr val="636F79"/>
                </a:solidFill>
                <a:latin typeface="Aptos"/>
              </a:rPr>
              <a:t>Scans require OCR review, metadata normalization, validation and provenance.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38912" y="4078224"/>
            <a:ext cx="5257800" cy="67665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Oval 15375"/>
          <p:cNvSpPr/>
          <p:nvPr/>
        </p:nvSpPr>
        <p:spPr>
          <a:xfrm>
            <a:off x="557784" y="4197096"/>
            <a:ext cx="438912" cy="438912"/>
          </a:xfrm>
          <a:prstGeom prst="ellipse">
            <a:avLst/>
          </a:prstGeom>
          <a:solidFill>
            <a:srgbClr val="7D5AA0"/>
          </a:solidFill>
          <a:ln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1078992" y="4151376"/>
            <a:ext cx="15087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252E36"/>
                </a:solidFill>
                <a:latin typeface="Aptos"/>
              </a:rPr>
              <a:t>Public + institutional access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2606040" y="4151376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>
                <a:solidFill>
                  <a:srgbClr val="636F79"/>
                </a:solidFill>
                <a:latin typeface="Aptos"/>
              </a:rPr>
              <a:t>Students, researchers, archivists and visitors need accessible web/kiosk access.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989320" y="1298448"/>
            <a:ext cx="29260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44944E"/>
                </a:solidFill>
                <a:latin typeface="Aptos"/>
              </a:rPr>
              <a:t>PROPOSED SOLUTION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989320" y="1664208"/>
            <a:ext cx="5440680" cy="932688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6172200" y="1783080"/>
            <a:ext cx="5074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1">
                <a:solidFill>
                  <a:srgbClr val="252E36"/>
                </a:solidFill>
                <a:latin typeface="Aptos"/>
              </a:rPr>
              <a:t>Unified institutional archive that collects, standardizes, indexes and exposes Ambedkar records through searchable web access, timeline exploration, cited retrieval and narration.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5989320" y="2770632"/>
            <a:ext cx="29260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7669E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5989320" y="3127248"/>
            <a:ext cx="1143000" cy="438912"/>
          </a:xfrm>
          <a:prstGeom prst="roundRect">
            <a:avLst/>
          </a:prstGeom>
          <a:solidFill>
            <a:srgbClr val="EF7B19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7269480" y="3136391"/>
            <a:ext cx="3977639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70" b="0">
                <a:solidFill>
                  <a:srgbClr val="252E36"/>
                </a:solidFill>
                <a:latin typeface="Aptos"/>
              </a:rPr>
              <a:t>Internet Archive + Constituent Assembly Debates + Foundation/BAWS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5989320" y="3749039"/>
            <a:ext cx="1143000" cy="438912"/>
          </a:xfrm>
          <a:prstGeom prst="roundRect">
            <a:avLst/>
          </a:prstGeom>
          <a:solidFill>
            <a:srgbClr val="27669E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NORMALIZE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7269480" y="3758183"/>
            <a:ext cx="3977639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70" b="0">
                <a:solidFill>
                  <a:srgbClr val="252E36"/>
                </a:solidFill>
                <a:latin typeface="Aptos"/>
              </a:rPr>
              <a:t>Common document schema + metadata + validation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989320" y="4370832"/>
            <a:ext cx="1143000" cy="438912"/>
          </a:xfrm>
          <a:prstGeom prst="roundRect">
            <a:avLst/>
          </a:prstGeom>
          <a:solidFill>
            <a:srgbClr val="44944E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7269480" y="4379976"/>
            <a:ext cx="3977639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70" b="0">
                <a:solidFill>
                  <a:srgbClr val="252E36"/>
                </a:solidFill>
                <a:latin typeface="Aptos"/>
              </a:rPr>
              <a:t>SQLite FTS5 keyword search + archive-grounded citations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5989320" y="4992624"/>
            <a:ext cx="1143000" cy="438912"/>
          </a:xfrm>
          <a:prstGeom prst="roundRect">
            <a:avLst/>
          </a:prstGeom>
          <a:solidFill>
            <a:srgbClr val="7D5AA0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7269480" y="5001768"/>
            <a:ext cx="3977639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70" b="0">
                <a:solidFill>
                  <a:srgbClr val="252E36"/>
                </a:solidFill>
                <a:latin typeface="Aptos"/>
              </a:rPr>
              <a:t>Browse • Search • Read • Timeline • Research • Narration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38912" y="5029200"/>
            <a:ext cx="3566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EF7B19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38912" y="5376672"/>
            <a:ext cx="2542032" cy="493776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530352" y="5422392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Source-integrated schema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530352" y="5623560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>
                <a:solidFill>
                  <a:srgbClr val="636F79"/>
                </a:solidFill>
                <a:latin typeface="Aptos"/>
              </a:rPr>
              <a:t>Three primary-source groups in one normalized archive.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3182112" y="5376672"/>
            <a:ext cx="2542032" cy="493776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TextBox 15395"/>
          <p:cNvSpPr txBox="1"/>
          <p:nvPr/>
        </p:nvSpPr>
        <p:spPr>
          <a:xfrm>
            <a:off x="3273552" y="5422392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Cited retrieval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3273552" y="5623560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>
                <a:solidFill>
                  <a:srgbClr val="636F79"/>
                </a:solidFill>
                <a:latin typeface="Aptos"/>
              </a:rPr>
              <a:t>Research output points back to indexed archive passages.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438912" y="5961888"/>
            <a:ext cx="2542032" cy="493776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530352" y="6007607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Human-in-the-loop OCR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530352" y="6208775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>
                <a:solidFill>
                  <a:srgbClr val="636F79"/>
                </a:solidFill>
                <a:latin typeface="Aptos"/>
              </a:rPr>
              <a:t>Scanned documents pass through review before ingestion.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3182112" y="5961888"/>
            <a:ext cx="2542032" cy="493776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3273552" y="6007607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Timeline + narration + kiosk mode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3273552" y="6208775"/>
            <a:ext cx="235915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>
                <a:solidFill>
                  <a:srgbClr val="636F79"/>
                </a:solidFill>
                <a:latin typeface="Aptos"/>
              </a:rPr>
              <a:t>One experience for research and institutional visitors.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5989320" y="5623560"/>
            <a:ext cx="5440680" cy="502920"/>
          </a:xfrm>
          <a:prstGeom prst="roundRect">
            <a:avLst/>
          </a:prstGeom>
          <a:solidFill>
            <a:srgbClr val="194368"/>
          </a:solidFill>
          <a:ln w="12700">
            <a:solidFill>
              <a:srgbClr val="19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BASELINE*  530 records  |  86,624 indexed words  |  835 embedding-ready chunks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45720" rIns="45720" anchor="ctr"/>
          <a:lstStyle/>
          <a:p>
            <a:pPr eaLnBrk="1" hangingPunct="1" algn="l"/>
            <a:r>
              <a:rPr sz="2400" b="1">
                <a:solidFill>
                  <a:srgbClr val="FFFFFF"/>
                </a:solidFill>
                <a:latin typeface="Aptos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94368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38912" y="1298448"/>
            <a:ext cx="32918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94368"/>
                </a:solidFill>
                <a:latin typeface="Aptos"/>
              </a:rPr>
              <a:t>METHODOLOGY AND PROCESS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502920" y="1728216"/>
            <a:ext cx="438912" cy="438912"/>
          </a:xfrm>
          <a:prstGeom prst="ellipse">
            <a:avLst/>
          </a:prstGeom>
          <a:solidFill>
            <a:srgbClr val="EF7B19"/>
          </a:solidFill>
          <a:ln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078992" y="1673352"/>
            <a:ext cx="4617720" cy="53035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1225296" y="1728216"/>
            <a:ext cx="1554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40" b="1">
                <a:solidFill>
                  <a:srgbClr val="252E36"/>
                </a:solidFill>
                <a:latin typeface="Aptos"/>
              </a:rPr>
              <a:t>COLLECT &amp; INGEST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761488" y="1709928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9" b="0">
                <a:solidFill>
                  <a:srgbClr val="636F79"/>
                </a:solidFill>
                <a:latin typeface="Aptos"/>
              </a:rPr>
              <a:t>Source collectors • document intake • optional OCR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722376" y="2167128"/>
            <a:ext cx="0" cy="137160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Oval 17415"/>
          <p:cNvSpPr/>
          <p:nvPr/>
        </p:nvSpPr>
        <p:spPr>
          <a:xfrm>
            <a:off x="502920" y="2359152"/>
            <a:ext cx="438912" cy="438912"/>
          </a:xfrm>
          <a:prstGeom prst="ellipse">
            <a:avLst/>
          </a:prstGeom>
          <a:solidFill>
            <a:srgbClr val="27669E"/>
          </a:solidFill>
          <a:ln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078992" y="2304288"/>
            <a:ext cx="4617720" cy="53035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1225296" y="2359152"/>
            <a:ext cx="1554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40" b="1">
                <a:solidFill>
                  <a:srgbClr val="252E36"/>
                </a:solidFill>
                <a:latin typeface="Aptos"/>
              </a:rPr>
              <a:t>NORMALIZE &amp; VALIDATE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61488" y="2340864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9" b="0">
                <a:solidFill>
                  <a:srgbClr val="636F79"/>
                </a:solidFill>
                <a:latin typeface="Aptos"/>
              </a:rPr>
              <a:t>Common schema • required-field checks • human review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722376" y="2798064"/>
            <a:ext cx="0" cy="137160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Oval 17420"/>
          <p:cNvSpPr/>
          <p:nvPr/>
        </p:nvSpPr>
        <p:spPr>
          <a:xfrm>
            <a:off x="502920" y="2990088"/>
            <a:ext cx="438912" cy="438912"/>
          </a:xfrm>
          <a:prstGeom prst="ellipse">
            <a:avLst/>
          </a:prstGeom>
          <a:solidFill>
            <a:srgbClr val="45A8A5"/>
          </a:solidFill>
          <a:ln>
            <a:solidFill>
              <a:srgbClr val="45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078992" y="2935224"/>
            <a:ext cx="4617720" cy="53035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1225296" y="2990088"/>
            <a:ext cx="1554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40" b="1">
                <a:solidFill>
                  <a:srgbClr val="252E36"/>
                </a:solidFill>
                <a:latin typeface="Aptos"/>
              </a:rPr>
              <a:t>STORE &amp; INDEX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761488" y="2971800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9" b="0">
                <a:solidFill>
                  <a:srgbClr val="636F79"/>
                </a:solidFill>
                <a:latin typeface="Aptos"/>
              </a:rPr>
              <a:t>Processed JSON • metadata registry/CSV • SQLite • FTS5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722376" y="3429000"/>
            <a:ext cx="0" cy="137160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Oval 17425"/>
          <p:cNvSpPr/>
          <p:nvPr/>
        </p:nvSpPr>
        <p:spPr>
          <a:xfrm>
            <a:off x="502920" y="3621024"/>
            <a:ext cx="438912" cy="438912"/>
          </a:xfrm>
          <a:prstGeom prst="ellipse">
            <a:avLst/>
          </a:prstGeom>
          <a:solidFill>
            <a:srgbClr val="44944E"/>
          </a:solidFill>
          <a:ln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1078992" y="3566160"/>
            <a:ext cx="4617720" cy="53035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1225296" y="3621024"/>
            <a:ext cx="1554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40" b="1">
                <a:solidFill>
                  <a:srgbClr val="252E36"/>
                </a:solidFill>
                <a:latin typeface="Aptos"/>
              </a:rPr>
              <a:t>SERVE &amp; RETRIEVE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761488" y="3602736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9" b="0">
                <a:solidFill>
                  <a:srgbClr val="636F79"/>
                </a:solidFill>
                <a:latin typeface="Aptos"/>
              </a:rPr>
              <a:t>FastAPI services • keyword retrieval • source citations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722376" y="4059935"/>
            <a:ext cx="0" cy="137161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Oval 17430"/>
          <p:cNvSpPr/>
          <p:nvPr/>
        </p:nvSpPr>
        <p:spPr>
          <a:xfrm>
            <a:off x="502920" y="4251959"/>
            <a:ext cx="438912" cy="438912"/>
          </a:xfrm>
          <a:prstGeom prst="ellipse">
            <a:avLst/>
          </a:prstGeom>
          <a:solidFill>
            <a:srgbClr val="7D5AA0"/>
          </a:solidFill>
          <a:ln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1078992" y="4197096"/>
            <a:ext cx="4617720" cy="53035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1225296" y="4251959"/>
            <a:ext cx="15544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40" b="1">
                <a:solidFill>
                  <a:srgbClr val="252E36"/>
                </a:solidFill>
                <a:latin typeface="Aptos"/>
              </a:rPr>
              <a:t>EXPERIENCE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761488" y="4233672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9" b="0">
                <a:solidFill>
                  <a:srgbClr val="636F79"/>
                </a:solidFill>
                <a:latin typeface="Aptos"/>
              </a:rPr>
              <a:t>Archive • Timeline • Research • Narration • Kiosk mode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8912" y="4965192"/>
            <a:ext cx="32918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44944E"/>
                </a:solidFill>
                <a:latin typeface="Aptos"/>
              </a:rPr>
              <a:t>TECHNOLOGY STACK → ROLE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38912" y="5303520"/>
            <a:ext cx="2542032" cy="393192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512063" y="5340096"/>
            <a:ext cx="1325880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>
                <a:solidFill>
                  <a:srgbClr val="252E36"/>
                </a:solidFill>
                <a:latin typeface="Aptos"/>
              </a:rPr>
              <a:t>HTML / CSS / JS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792224" y="5340096"/>
            <a:ext cx="107899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60" b="0">
                <a:solidFill>
                  <a:srgbClr val="636F79"/>
                </a:solidFill>
                <a:latin typeface="Aptos"/>
              </a:rPr>
              <a:t>Archive UI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136392" y="5303520"/>
            <a:ext cx="2542032" cy="393192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3209544" y="5340096"/>
            <a:ext cx="1325880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>
                <a:solidFill>
                  <a:srgbClr val="252E36"/>
                </a:solidFill>
                <a:latin typeface="Aptos"/>
              </a:rPr>
              <a:t>Python + FastAPI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489704" y="5340096"/>
            <a:ext cx="107899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60" b="0">
                <a:solidFill>
                  <a:srgbClr val="636F79"/>
                </a:solidFill>
                <a:latin typeface="Aptos"/>
              </a:rPr>
              <a:t>API services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8912" y="5779008"/>
            <a:ext cx="2542032" cy="393192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512063" y="5815584"/>
            <a:ext cx="1325880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>
                <a:solidFill>
                  <a:srgbClr val="252E36"/>
                </a:solidFill>
                <a:latin typeface="Aptos"/>
              </a:rPr>
              <a:t>SQLite + FTS5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792224" y="5815584"/>
            <a:ext cx="107899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60" b="0">
                <a:solidFill>
                  <a:srgbClr val="636F79"/>
                </a:solidFill>
                <a:latin typeface="Aptos"/>
              </a:rPr>
              <a:t>Keyword retrieval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136392" y="5779008"/>
            <a:ext cx="2542032" cy="393192"/>
          </a:xfrm>
          <a:prstGeom prst="roundRect">
            <a:avLst/>
          </a:prstGeom>
          <a:solidFill>
            <a:srgbClr val="F0E8F8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3209544" y="5815584"/>
            <a:ext cx="1325880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>
                <a:solidFill>
                  <a:srgbClr val="252E36"/>
                </a:solidFill>
                <a:latin typeface="Aptos"/>
              </a:rPr>
              <a:t>PyMuPDF / Pillow / Tesseract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489704" y="5815584"/>
            <a:ext cx="107899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60" b="0">
                <a:solidFill>
                  <a:srgbClr val="636F79"/>
                </a:solidFill>
                <a:latin typeface="Aptos"/>
              </a:rPr>
              <a:t>OCR path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38912" y="6254496"/>
            <a:ext cx="2542032" cy="393192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512063" y="6291072"/>
            <a:ext cx="1325880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>
                <a:solidFill>
                  <a:srgbClr val="252E36"/>
                </a:solidFill>
                <a:latin typeface="Aptos"/>
              </a:rPr>
              <a:t>SpeechSynthesis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792224" y="6291072"/>
            <a:ext cx="107899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60" b="0">
                <a:solidFill>
                  <a:srgbClr val="636F79"/>
                </a:solidFill>
                <a:latin typeface="Aptos"/>
              </a:rPr>
              <a:t>Narration fallback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3136392" y="6254496"/>
            <a:ext cx="2542032" cy="393192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3209544" y="6291072"/>
            <a:ext cx="1325880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>
                <a:solidFill>
                  <a:srgbClr val="252E36"/>
                </a:solidFill>
                <a:latin typeface="Aptos"/>
              </a:rPr>
              <a:t>Optional ElevenLabs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489704" y="6291072"/>
            <a:ext cx="1078992" cy="1737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60" b="0">
                <a:solidFill>
                  <a:srgbClr val="636F79"/>
                </a:solidFill>
                <a:latin typeface="Aptos"/>
              </a:rPr>
              <a:t>Configured TTS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172200" y="1298448"/>
            <a:ext cx="3840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94368"/>
                </a:solidFill>
                <a:latin typeface="Aptos"/>
              </a:rPr>
              <a:t>SYSTEM ARCHITECTURE / USER FLOW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6263640" y="1664208"/>
            <a:ext cx="4846320" cy="621792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6428232" y="1728216"/>
            <a:ext cx="1554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40" b="1">
                <a:solidFill>
                  <a:srgbClr val="252E36"/>
                </a:solidFill>
                <a:latin typeface="Aptos"/>
              </a:rPr>
              <a:t>SOURCE REPOSITORIES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019288" y="1709928"/>
            <a:ext cx="2907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19" b="0">
                <a:solidFill>
                  <a:srgbClr val="636F79"/>
                </a:solidFill>
                <a:latin typeface="Aptos"/>
              </a:rPr>
              <a:t>Internet Archive
CAD
Foundation / BAWS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8686800" y="2286000"/>
            <a:ext cx="0" cy="201168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6263640" y="2487168"/>
            <a:ext cx="4846320" cy="621792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6428232" y="2551176"/>
            <a:ext cx="1554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40" b="1">
                <a:solidFill>
                  <a:srgbClr val="252E36"/>
                </a:solidFill>
                <a:latin typeface="Aptos"/>
              </a:rPr>
              <a:t>DOCUMENT PIPELINE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019288" y="2532888"/>
            <a:ext cx="2907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19" b="0">
                <a:solidFill>
                  <a:srgbClr val="636F79"/>
                </a:solidFill>
                <a:latin typeface="Aptos"/>
              </a:rPr>
              <a:t>Collect → Normalize → Validate
OCR + human review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8686800" y="3108960"/>
            <a:ext cx="0" cy="201168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6263640" y="3310128"/>
            <a:ext cx="4846320" cy="621792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6428232" y="3374136"/>
            <a:ext cx="1554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40" b="1">
                <a:solidFill>
                  <a:srgbClr val="252E36"/>
                </a:solidFill>
                <a:latin typeface="Aptos"/>
              </a:rPr>
              <a:t>ARCHIVE DATA LAYER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019288" y="3355848"/>
            <a:ext cx="2907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19" b="0">
                <a:solidFill>
                  <a:srgbClr val="636F79"/>
                </a:solidFill>
                <a:latin typeface="Aptos"/>
              </a:rPr>
              <a:t>Processed JSON
Metadata Registry / CSV
SQLite + FTS5</a:t>
            </a:r>
          </a:p>
        </p:txBody>
      </p:sp>
      <p:cxnSp>
        <p:nvCxnSpPr>
          <p:cNvPr id="17466" name="Connector 17465"/>
          <p:cNvCxnSpPr/>
          <p:nvPr/>
        </p:nvCxnSpPr>
        <p:spPr>
          <a:xfrm>
            <a:off x="8686800" y="3931920"/>
            <a:ext cx="0" cy="201168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7" name="Rounded Rectangle 17466"/>
          <p:cNvSpPr/>
          <p:nvPr/>
        </p:nvSpPr>
        <p:spPr>
          <a:xfrm>
            <a:off x="6263640" y="4133088"/>
            <a:ext cx="4846320" cy="621792"/>
          </a:xfrm>
          <a:prstGeom prst="roundRect">
            <a:avLst/>
          </a:prstGeom>
          <a:solidFill>
            <a:srgbClr val="F0E8F8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6428232" y="4197096"/>
            <a:ext cx="1554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40" b="1">
                <a:solidFill>
                  <a:srgbClr val="252E36"/>
                </a:solidFill>
                <a:latin typeface="Aptos"/>
              </a:rPr>
              <a:t>API / RETRIEVAL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019288" y="4178808"/>
            <a:ext cx="2907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19" b="0">
                <a:solidFill>
                  <a:srgbClr val="636F79"/>
                </a:solidFill>
                <a:latin typeface="Aptos"/>
              </a:rPr>
              <a:t>FastAPI services
Cited archive retrieval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8686800" y="4754880"/>
            <a:ext cx="0" cy="201168"/>
          </a:xfrm>
          <a:prstGeom prst="line">
            <a:avLst/>
          </a:prstGeom>
          <a:ln w="1524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Rounded Rectangle 17470"/>
          <p:cNvSpPr/>
          <p:nvPr/>
        </p:nvSpPr>
        <p:spPr>
          <a:xfrm>
            <a:off x="6263640" y="4956048"/>
            <a:ext cx="4846320" cy="621792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6428232" y="5020056"/>
            <a:ext cx="15544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40" b="1">
                <a:solidFill>
                  <a:srgbClr val="252E36"/>
                </a:solidFill>
                <a:latin typeface="Aptos"/>
              </a:rPr>
              <a:t>USER EXPERIENCE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019288" y="5001768"/>
            <a:ext cx="2907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19" b="0">
                <a:solidFill>
                  <a:srgbClr val="636F79"/>
                </a:solidFill>
                <a:latin typeface="Aptos"/>
              </a:rPr>
              <a:t>Browse • Search • Read
Timeline • Research • Narration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6263640" y="5833872"/>
            <a:ext cx="4846320" cy="548640"/>
          </a:xfrm>
          <a:prstGeom prst="roundRect">
            <a:avLst/>
          </a:prstGeom>
          <a:solidFill>
            <a:srgbClr val="194368"/>
          </a:solidFill>
          <a:ln w="12700">
            <a:solidFill>
              <a:srgbClr val="19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PROPOSED HARDWARE  •  Touchscreen kiosks  •  Smart displays  •  Institutional servers  •  AV playback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45720" rIns="45720" anchor="ctr"/>
          <a:lstStyle/>
          <a:p>
            <a:pPr eaLnBrk="1" hangingPunct="1" algn="l"/>
            <a:r>
              <a:rPr sz="2400" b="1">
                <a:solidFill>
                  <a:srgbClr val="FFFFFF"/>
                </a:solidFill>
                <a:latin typeface="Aptos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94368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38912" y="1298448"/>
            <a:ext cx="34747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94368"/>
                </a:solidFill>
                <a:latin typeface="Aptos"/>
              </a:rPr>
              <a:t>FEASIBILITY &amp; VIABILITY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8912" y="1691640"/>
            <a:ext cx="2578608" cy="1051560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801368"/>
            <a:ext cx="21945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27669E"/>
                </a:solidFill>
                <a:latin typeface="Aptos"/>
              </a:rPr>
              <a:t>TECHNICAL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2075688"/>
            <a:ext cx="23591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40" b="0">
                <a:solidFill>
                  <a:srgbClr val="252E36"/>
                </a:solidFill>
                <a:latin typeface="Aptos"/>
              </a:rPr>
              <a:t>Prototype foundation exists:
530-record baseline, ETL/schema validation, UI, API source, OCR/TTS paths.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27832" y="1691640"/>
            <a:ext cx="2578608" cy="1051560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337560" y="1801368"/>
            <a:ext cx="21945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EF7B19"/>
                </a:solidFill>
                <a:latin typeface="Aptos"/>
              </a:rPr>
              <a:t>FINANCIAL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337560" y="2075688"/>
            <a:ext cx="23591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40" b="0">
                <a:solidFill>
                  <a:srgbClr val="252E36"/>
                </a:solidFill>
                <a:latin typeface="Aptos"/>
              </a:rPr>
              <a:t>No budget or vendor quote in project files.
Use cost categories and gather deployment estimates.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38912" y="3026664"/>
            <a:ext cx="2578608" cy="1051560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548640" y="3136392"/>
            <a:ext cx="21945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44944E"/>
                </a:solidFill>
                <a:latin typeface="Aptos"/>
              </a:rPr>
              <a:t>USER / MARKET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48640" y="3410712"/>
            <a:ext cx="23591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40" b="0">
                <a:solidFill>
                  <a:srgbClr val="252E36"/>
                </a:solidFill>
                <a:latin typeface="Aptos"/>
              </a:rPr>
              <a:t>Named users: students, researchers, archivists, institutional visitors, public.
No adoption study yet.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27832" y="3026664"/>
            <a:ext cx="2578608" cy="1051560"/>
          </a:xfrm>
          <a:prstGeom prst="roundRect">
            <a:avLst/>
          </a:prstGeom>
          <a:solidFill>
            <a:srgbClr val="F0E8F8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337560" y="3136392"/>
            <a:ext cx="21945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7D5AA0"/>
                </a:solidFill>
                <a:latin typeface="Aptos"/>
              </a:rPr>
              <a:t>OPERATIONAL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337560" y="3410712"/>
            <a:ext cx="235915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40" b="0">
                <a:solidFill>
                  <a:srgbClr val="252E36"/>
                </a:solidFill>
                <a:latin typeface="Aptos"/>
              </a:rPr>
              <a:t>Needs source/rights review, metadata stewardship, OCR proofreading, backups, support and governed ingestion.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72200" y="1298448"/>
            <a:ext cx="36576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44944E"/>
                </a:solidFill>
                <a:latin typeface="Aptos"/>
              </a:rPr>
              <a:t>STRATEGIES FOR OVERCOMING CHALLENGES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72200" y="1682496"/>
            <a:ext cx="5166360" cy="548640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309360" y="1737360"/>
            <a:ext cx="1600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>
                <a:solidFill>
                  <a:srgbClr val="252E36"/>
                </a:solidFill>
                <a:latin typeface="Aptos"/>
              </a:rPr>
              <a:t>DATA RECONCILIATION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836408" y="1719072"/>
            <a:ext cx="331012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0" b="0">
                <a:solidFill>
                  <a:srgbClr val="636F79"/>
                </a:solidFill>
                <a:latin typeface="Aptos"/>
              </a:rPr>
              <a:t>Regenerate registry/CSV/report; exclude test records; rerun validation.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2368296"/>
            <a:ext cx="5166360" cy="548640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309360" y="2423160"/>
            <a:ext cx="1600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>
                <a:solidFill>
                  <a:srgbClr val="252E36"/>
                </a:solidFill>
                <a:latin typeface="Aptos"/>
              </a:rPr>
              <a:t>OCR QUALITY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836408" y="2404872"/>
            <a:ext cx="331012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0" b="0">
                <a:solidFill>
                  <a:srgbClr val="636F79"/>
                </a:solidFill>
                <a:latin typeface="Aptos"/>
              </a:rPr>
              <a:t>Human correction step; preserve source scan/reference; track corrections.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72200" y="3054096"/>
            <a:ext cx="5166360" cy="548640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309360" y="3108960"/>
            <a:ext cx="1600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>
                <a:solidFill>
                  <a:srgbClr val="252E36"/>
                </a:solidFill>
                <a:latin typeface="Aptos"/>
              </a:rPr>
              <a:t>RETRIEVAL QUALITY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836408" y="3090672"/>
            <a:ext cx="331012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0" b="0">
                <a:solidFill>
                  <a:srgbClr val="636F79"/>
                </a:solidFill>
                <a:latin typeface="Aptos"/>
              </a:rPr>
              <a:t>Test a question set; exact citations; "not found in archive" behavior.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172200" y="3739896"/>
            <a:ext cx="5166360" cy="548640"/>
          </a:xfrm>
          <a:prstGeom prst="roundRect">
            <a:avLst/>
          </a:prstGeom>
          <a:solidFill>
            <a:srgbClr val="F0E8F8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309360" y="3794759"/>
            <a:ext cx="1600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>
                <a:solidFill>
                  <a:srgbClr val="252E36"/>
                </a:solidFill>
                <a:latin typeface="Aptos"/>
              </a:rPr>
              <a:t>LANGUAGE COVERAGE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836408" y="3776472"/>
            <a:ext cx="331012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0" b="0">
                <a:solidFill>
                  <a:srgbClr val="636F79"/>
                </a:solidFill>
                <a:latin typeface="Aptos"/>
              </a:rPr>
              <a:t>Verify corpus vs interface vs translation; add languages incrementally.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72200" y="4425696"/>
            <a:ext cx="5166360" cy="548640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309360" y="4480559"/>
            <a:ext cx="1600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>
                <a:solidFill>
                  <a:srgbClr val="252E36"/>
                </a:solidFill>
                <a:latin typeface="Aptos"/>
              </a:rPr>
              <a:t>OFFLINE DEPLOYMENT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836408" y="4462272"/>
            <a:ext cx="331012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0" b="0">
                <a:solidFill>
                  <a:srgbClr val="636F79"/>
                </a:solidFill>
                <a:latin typeface="Aptos"/>
              </a:rPr>
              <a:t>Vendor/static-host assets; test controlled institutional environment.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72200" y="5111496"/>
            <a:ext cx="5166360" cy="548640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309360" y="5166359"/>
            <a:ext cx="16002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>
                <a:solidFill>
                  <a:srgbClr val="252E36"/>
                </a:solidFill>
                <a:latin typeface="Aptos"/>
              </a:rPr>
              <a:t>HARDWARE PILOT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836408" y="5148072"/>
            <a:ext cx="3310128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0" b="0">
                <a:solidFill>
                  <a:srgbClr val="636F79"/>
                </a:solidFill>
                <a:latin typeface="Aptos"/>
              </a:rPr>
              <a:t>Pilot kiosk/display setup; test accessibility, audio, power and support.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8912" y="6126480"/>
            <a:ext cx="5349240" cy="438912"/>
          </a:xfrm>
          <a:prstGeom prst="roundRect">
            <a:avLst/>
          </a:prstGeom>
          <a:solidFill>
            <a:srgbClr val="194368"/>
          </a:solidFill>
          <a:ln w="12700">
            <a:solidFill>
              <a:srgbClr val="19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DEPLOYMENT GATE → reconcile data • verify rights • validate OCR • pilot hardware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45720" rIns="45720" anchor="ctr"/>
          <a:lstStyle/>
          <a:p>
            <a:pPr eaLnBrk="1" hangingPunct="1" algn="l"/>
            <a:r>
              <a:rPr sz="2400" b="1">
                <a:solidFill>
                  <a:srgbClr val="FFFFFF"/>
                </a:solidFill>
                <a:latin typeface="Aptos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94368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38912" y="1298448"/>
            <a:ext cx="36576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94368"/>
                </a:solidFill>
                <a:latin typeface="Aptos"/>
              </a:rPr>
              <a:t>BENEFITS OF THE SOLUTION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1828800" y="2697480"/>
            <a:ext cx="1417320" cy="1417320"/>
          </a:xfrm>
          <a:prstGeom prst="ellipse">
            <a:avLst/>
          </a:prstGeom>
          <a:solidFill>
            <a:srgbClr val="27669E"/>
          </a:solidFill>
          <a:ln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DIGITAL
HERITAGE
ARCHIVE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502920" y="1719072"/>
            <a:ext cx="1097280" cy="1097280"/>
          </a:xfrm>
          <a:prstGeom prst="ellipse">
            <a:avLst/>
          </a:prstGeom>
          <a:solidFill>
            <a:srgbClr val="EF7B19"/>
          </a:solidFill>
          <a:ln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cxnSp>
        <p:nvCxnSpPr>
          <p:cNvPr id="17413" name="Connector 17412"/>
          <p:cNvCxnSpPr/>
          <p:nvPr/>
        </p:nvCxnSpPr>
        <p:spPr>
          <a:xfrm flipH="1" flipV="1">
            <a:off x="1051560" y="2267712"/>
            <a:ext cx="1490472" cy="1133856"/>
          </a:xfrm>
          <a:prstGeom prst="line">
            <a:avLst/>
          </a:prstGeom>
          <a:ln w="1651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Oval 17413"/>
          <p:cNvSpPr/>
          <p:nvPr/>
        </p:nvSpPr>
        <p:spPr>
          <a:xfrm>
            <a:off x="3383280" y="1645920"/>
            <a:ext cx="1097280" cy="1097280"/>
          </a:xfrm>
          <a:prstGeom prst="ellipse">
            <a:avLst/>
          </a:prstGeom>
          <a:solidFill>
            <a:srgbClr val="44944E"/>
          </a:solidFill>
          <a:ln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RESEARCHERS</a:t>
            </a:r>
          </a:p>
        </p:txBody>
      </p:sp>
      <p:cxnSp>
        <p:nvCxnSpPr>
          <p:cNvPr id="17415" name="Connector 17414"/>
          <p:cNvCxnSpPr/>
          <p:nvPr/>
        </p:nvCxnSpPr>
        <p:spPr>
          <a:xfrm flipV="1">
            <a:off x="2542032" y="2194560"/>
            <a:ext cx="1389888" cy="1207008"/>
          </a:xfrm>
          <a:prstGeom prst="line">
            <a:avLst/>
          </a:prstGeom>
          <a:ln w="1651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Oval 17415"/>
          <p:cNvSpPr/>
          <p:nvPr/>
        </p:nvSpPr>
        <p:spPr>
          <a:xfrm>
            <a:off x="502920" y="4315968"/>
            <a:ext cx="1097280" cy="1097280"/>
          </a:xfrm>
          <a:prstGeom prst="ellipse">
            <a:avLst/>
          </a:prstGeom>
          <a:solidFill>
            <a:srgbClr val="7D5AA0"/>
          </a:solidFill>
          <a:ln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ARCHIVISTS</a:t>
            </a:r>
          </a:p>
        </p:txBody>
      </p:sp>
      <p:cxnSp>
        <p:nvCxnSpPr>
          <p:cNvPr id="17417" name="Connector 17416"/>
          <p:cNvCxnSpPr/>
          <p:nvPr/>
        </p:nvCxnSpPr>
        <p:spPr>
          <a:xfrm flipH="1">
            <a:off x="1051560" y="3401568"/>
            <a:ext cx="1490472" cy="1463039"/>
          </a:xfrm>
          <a:prstGeom prst="line">
            <a:avLst/>
          </a:prstGeom>
          <a:ln w="1651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Oval 17417"/>
          <p:cNvSpPr/>
          <p:nvPr/>
        </p:nvSpPr>
        <p:spPr>
          <a:xfrm>
            <a:off x="3493008" y="4270248"/>
            <a:ext cx="1097280" cy="1097280"/>
          </a:xfrm>
          <a:prstGeom prst="ellipse">
            <a:avLst/>
          </a:prstGeom>
          <a:solidFill>
            <a:srgbClr val="45A8A5"/>
          </a:solidFill>
          <a:ln>
            <a:solidFill>
              <a:srgbClr val="45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VISITORS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2542032" y="3401568"/>
            <a:ext cx="1499616" cy="1417320"/>
          </a:xfrm>
          <a:prstGeom prst="line">
            <a:avLst/>
          </a:prstGeom>
          <a:ln w="1651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Oval 17419"/>
          <p:cNvSpPr/>
          <p:nvPr/>
        </p:nvSpPr>
        <p:spPr>
          <a:xfrm>
            <a:off x="1874519" y="5148072"/>
            <a:ext cx="1097280" cy="1097280"/>
          </a:xfrm>
          <a:prstGeom prst="ellipse">
            <a:avLst/>
          </a:prstGeom>
          <a:solidFill>
            <a:srgbClr val="194368"/>
          </a:solidFill>
          <a:ln>
            <a:solidFill>
              <a:srgbClr val="19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PUBLIC</a:t>
            </a:r>
          </a:p>
        </p:txBody>
      </p:sp>
      <p:cxnSp>
        <p:nvCxnSpPr>
          <p:cNvPr id="17421" name="Connector 17420"/>
          <p:cNvCxnSpPr/>
          <p:nvPr/>
        </p:nvCxnSpPr>
        <p:spPr>
          <a:xfrm flipH="1">
            <a:off x="2423160" y="3401568"/>
            <a:ext cx="118872" cy="2295144"/>
          </a:xfrm>
          <a:prstGeom prst="line">
            <a:avLst/>
          </a:prstGeom>
          <a:ln w="1651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438912" y="5504688"/>
            <a:ext cx="5349240" cy="640080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76072" y="5596128"/>
            <a:ext cx="5074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69" b="1">
                <a:solidFill>
                  <a:srgbClr val="252E36"/>
                </a:solidFill>
                <a:latin typeface="Aptos"/>
              </a:rPr>
              <a:t>EXPECTED VALUE  • easier discovery  • consistent preservation  • accessible learning  • constitutional awareness • research support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144768" y="1298448"/>
            <a:ext cx="3749039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44944E"/>
                </a:solidFill>
                <a:latin typeface="Aptos"/>
              </a:rPr>
              <a:t>SUSTAINABILITY &amp; DEPLOYMENT MODEL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44768" y="1700784"/>
            <a:ext cx="2468880" cy="960120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236207" y="1792224"/>
            <a:ext cx="22402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70" b="1">
                <a:solidFill>
                  <a:srgbClr val="27669E"/>
                </a:solidFill>
                <a:latin typeface="Aptos"/>
              </a:rPr>
              <a:t>INSTITUTIONAL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236207" y="2048256"/>
            <a:ext cx="22402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80" b="0">
                <a:solidFill>
                  <a:srgbClr val="252E36"/>
                </a:solidFill>
                <a:latin typeface="Aptos"/>
              </a:rPr>
              <a:t>Archive stewardship,
admin review,
operational support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823960" y="1700784"/>
            <a:ext cx="2468880" cy="960120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8915400" y="1792224"/>
            <a:ext cx="22402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70" b="1">
                <a:solidFill>
                  <a:srgbClr val="44944E"/>
                </a:solidFill>
                <a:latin typeface="Aptos"/>
              </a:rPr>
              <a:t>INFRASTRUCTURE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915400" y="2048256"/>
            <a:ext cx="22402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80" b="0">
                <a:solidFill>
                  <a:srgbClr val="252E36"/>
                </a:solidFill>
                <a:latin typeface="Aptos"/>
              </a:rPr>
              <a:t>Server/storage,
backup/recovery,
controlled deployment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144768" y="2907792"/>
            <a:ext cx="2468880" cy="960120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6236207" y="2999232"/>
            <a:ext cx="22402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70" b="1">
                <a:solidFill>
                  <a:srgbClr val="EF7B19"/>
                </a:solidFill>
                <a:latin typeface="Aptos"/>
              </a:rPr>
              <a:t>DIGITIZATION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236207" y="3255264"/>
            <a:ext cx="22402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80" b="0">
                <a:solidFill>
                  <a:srgbClr val="252E36"/>
                </a:solidFill>
                <a:latin typeface="Aptos"/>
              </a:rPr>
              <a:t>Scanning,
OCR review,
metadata quality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823960" y="2907792"/>
            <a:ext cx="2468880" cy="960120"/>
          </a:xfrm>
          <a:prstGeom prst="roundRect">
            <a:avLst/>
          </a:prstGeom>
          <a:solidFill>
            <a:srgbClr val="F0E8F8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915400" y="2999232"/>
            <a:ext cx="22402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70" b="1">
                <a:solidFill>
                  <a:srgbClr val="7D5AA0"/>
                </a:solidFill>
                <a:latin typeface="Aptos"/>
              </a:rPr>
              <a:t>ACCESS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915400" y="3255264"/>
            <a:ext cx="22402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80" b="0">
                <a:solidFill>
                  <a:srgbClr val="252E36"/>
                </a:solidFill>
                <a:latin typeface="Aptos"/>
              </a:rPr>
              <a:t>Web archive,
kiosk/display,
narration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144768" y="4315968"/>
            <a:ext cx="3840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EF7B19"/>
                </a:solidFill>
                <a:latin typeface="Aptos"/>
              </a:rPr>
              <a:t>SCALABILITY ROADMAP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6199632" y="4645152"/>
            <a:ext cx="283464" cy="283464"/>
          </a:xfrm>
          <a:prstGeom prst="ellipse">
            <a:avLst/>
          </a:prstGeom>
          <a:solidFill>
            <a:srgbClr val="27669E"/>
          </a:solidFill>
          <a:ln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V1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583680" y="4636008"/>
            <a:ext cx="1325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252E36"/>
                </a:solidFill>
                <a:latin typeface="Aptos"/>
              </a:rPr>
              <a:t>Current prototype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845552" y="4626864"/>
            <a:ext cx="32461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>
                <a:solidFill>
                  <a:srgbClr val="636F79"/>
                </a:solidFill>
                <a:latin typeface="Aptos"/>
              </a:rPr>
              <a:t>Normalized corpus + SQLite/FTS5 + web interface</a:t>
            </a:r>
          </a:p>
        </p:txBody>
      </p:sp>
      <p:sp>
        <p:nvSpPr>
          <p:cNvPr id="17441" name="Oval 17440"/>
          <p:cNvSpPr/>
          <p:nvPr/>
        </p:nvSpPr>
        <p:spPr>
          <a:xfrm>
            <a:off x="6199632" y="5029200"/>
            <a:ext cx="283464" cy="283464"/>
          </a:xfrm>
          <a:prstGeom prst="ellipse">
            <a:avLst/>
          </a:prstGeom>
          <a:solidFill>
            <a:srgbClr val="EF7B19"/>
          </a:solidFill>
          <a:ln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V2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583680" y="5020056"/>
            <a:ext cx="1325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252E36"/>
                </a:solidFill>
                <a:latin typeface="Aptos"/>
              </a:rPr>
              <a:t>Institutional pilot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845552" y="5010912"/>
            <a:ext cx="32461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>
                <a:solidFill>
                  <a:srgbClr val="636F79"/>
                </a:solidFill>
                <a:latin typeface="Aptos"/>
              </a:rPr>
              <a:t>Full backend + real devices + admin/backups</a:t>
            </a:r>
          </a:p>
        </p:txBody>
      </p:sp>
      <p:sp>
        <p:nvSpPr>
          <p:cNvPr id="17444" name="Oval 17443"/>
          <p:cNvSpPr/>
          <p:nvPr/>
        </p:nvSpPr>
        <p:spPr>
          <a:xfrm>
            <a:off x="6199632" y="5413248"/>
            <a:ext cx="283464" cy="283464"/>
          </a:xfrm>
          <a:prstGeom prst="ellipse">
            <a:avLst/>
          </a:prstGeom>
          <a:solidFill>
            <a:srgbClr val="44944E"/>
          </a:solidFill>
          <a:ln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V3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583680" y="5404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252E36"/>
                </a:solidFill>
                <a:latin typeface="Aptos"/>
              </a:rPr>
              <a:t>Multilingual intelligence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845552" y="5394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>
                <a:solidFill>
                  <a:srgbClr val="636F79"/>
                </a:solidFill>
                <a:latin typeface="Aptos"/>
              </a:rPr>
              <a:t>Evaluate semantic retrieval + language coverage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6199632" y="5797296"/>
            <a:ext cx="283464" cy="283464"/>
          </a:xfrm>
          <a:prstGeom prst="ellipse">
            <a:avLst/>
          </a:prstGeom>
          <a:solidFill>
            <a:srgbClr val="7D5AA0"/>
          </a:solidFill>
          <a:ln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V4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583680" y="578815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252E36"/>
                </a:solidFill>
                <a:latin typeface="Aptos"/>
              </a:rPr>
              <a:t>Preservation at scale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845552" y="5779008"/>
            <a:ext cx="32461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>
                <a:solidFill>
                  <a:srgbClr val="636F79"/>
                </a:solidFill>
                <a:latin typeface="Aptos"/>
              </a:rPr>
              <a:t>Redundant copies + monitoring + recovery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45720" rIns="45720" anchor="ctr"/>
          <a:lstStyle/>
          <a:p>
            <a:pPr eaLnBrk="1" hangingPunct="1" algn="l"/>
            <a:r>
              <a:rPr sz="2400" b="1">
                <a:solidFill>
                  <a:srgbClr val="FFFFFF"/>
                </a:solidFill>
                <a:latin typeface="Aptos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94368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38912" y="1298448"/>
            <a:ext cx="34747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94368"/>
                </a:solidFill>
                <a:latin typeface="Aptos"/>
              </a:rPr>
              <a:t>PROTOTYPE / SAMPLE UI VIEWS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737360"/>
            <a:ext cx="15087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66928" y="1901952"/>
            <a:ext cx="1289304" cy="256032"/>
          </a:xfrm>
          <a:prstGeom prst="roundRect">
            <a:avLst/>
          </a:prstGeom>
          <a:solidFill>
            <a:srgbClr val="27669E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ARCHIVE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66928" y="2331720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1">
                <a:solidFill>
                  <a:srgbClr val="252E36"/>
                </a:solidFill>
                <a:latin typeface="Aptos"/>
              </a:rPr>
              <a:t>Search records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66928" y="2862072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Filters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66928" y="3392424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Source citation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66928" y="3922776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Document detail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66928" y="4526280"/>
            <a:ext cx="1289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636F79"/>
                </a:solidFill>
                <a:latin typeface="Aptos"/>
              </a:rPr>
              <a:t>PROTOTYPE VIEW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240280" y="1737360"/>
            <a:ext cx="15087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350008" y="1901952"/>
            <a:ext cx="1289304" cy="256032"/>
          </a:xfrm>
          <a:prstGeom prst="roundRect">
            <a:avLst/>
          </a:prstGeom>
          <a:solidFill>
            <a:srgbClr val="44944E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TIMELINE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350008" y="2331720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1">
                <a:solidFill>
                  <a:srgbClr val="252E36"/>
                </a:solidFill>
                <a:latin typeface="Aptos"/>
              </a:rPr>
              <a:t>Year / era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350008" y="2862072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Events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350008" y="3392424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Speech / debate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350008" y="3922776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Related records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350008" y="4526280"/>
            <a:ext cx="1289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636F79"/>
                </a:solidFill>
                <a:latin typeface="Aptos"/>
              </a:rPr>
              <a:t>PROTOTYPE VIEW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023360" y="1737360"/>
            <a:ext cx="15087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133088" y="1901952"/>
            <a:ext cx="1289304" cy="256032"/>
          </a:xfrm>
          <a:prstGeom prst="roundRect">
            <a:avLst/>
          </a:prstGeom>
          <a:solidFill>
            <a:srgbClr val="EF7B19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133088" y="2331720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1">
                <a:solidFill>
                  <a:srgbClr val="252E36"/>
                </a:solidFill>
                <a:latin typeface="Aptos"/>
              </a:rPr>
              <a:t>Question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33088" y="2862072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Archive passages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33088" y="3392424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Citation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133088" y="3922776"/>
            <a:ext cx="1289304" cy="4389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740" b="0">
                <a:solidFill>
                  <a:srgbClr val="252E36"/>
                </a:solidFill>
                <a:latin typeface="Aptos"/>
              </a:rPr>
              <a:t>Not found state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33088" y="4526280"/>
            <a:ext cx="1289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40" b="1">
                <a:solidFill>
                  <a:srgbClr val="636F79"/>
                </a:solidFill>
                <a:latin typeface="Aptos"/>
              </a:rPr>
              <a:t>PROTOTYPE VIEW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989320" y="1298448"/>
            <a:ext cx="42976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44944E"/>
                </a:solidFill>
                <a:latin typeface="Aptos"/>
              </a:rPr>
              <a:t>PRIMARY RESEARCH REFERENCES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5989320" y="1691640"/>
            <a:ext cx="393192" cy="393192"/>
          </a:xfrm>
          <a:prstGeom prst="ellipse">
            <a:avLst/>
          </a:prstGeom>
          <a:solidFill>
            <a:srgbClr val="27669E"/>
          </a:solidFill>
          <a:ln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473952" y="1682496"/>
            <a:ext cx="233172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Annihilation of Caste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686800" y="1682496"/>
            <a:ext cx="27432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90" b="0">
                <a:solidFill>
                  <a:srgbClr val="636F79"/>
                </a:solidFill>
                <a:latin typeface="Aptos"/>
              </a:rPr>
              <a:t>B. R. Ambedkar • BAWS Vol. 1 • pp. 23–96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5989320" y="2359152"/>
            <a:ext cx="393192" cy="393192"/>
          </a:xfrm>
          <a:prstGeom prst="ellipse">
            <a:avLst/>
          </a:prstGeom>
          <a:solidFill>
            <a:srgbClr val="27669E"/>
          </a:solidFill>
          <a:ln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473952" y="2350008"/>
            <a:ext cx="233172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Constituent Assembly Debates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686800" y="2350008"/>
            <a:ext cx="27432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90" b="0">
                <a:solidFill>
                  <a:srgbClr val="636F79"/>
                </a:solidFill>
                <a:latin typeface="Aptos"/>
              </a:rPr>
              <a:t>Vol. XI • pp. 972–984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5989320" y="3026664"/>
            <a:ext cx="393192" cy="393192"/>
          </a:xfrm>
          <a:prstGeom prst="ellipse">
            <a:avLst/>
          </a:prstGeom>
          <a:solidFill>
            <a:srgbClr val="44944E"/>
          </a:solidFill>
          <a:ln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473952" y="3017520"/>
            <a:ext cx="233172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The Problem of the Rupee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686800" y="3017520"/>
            <a:ext cx="27432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90" b="0">
                <a:solidFill>
                  <a:srgbClr val="636F79"/>
                </a:solidFill>
                <a:latin typeface="Aptos"/>
              </a:rPr>
              <a:t>B. R. Ambedkar • BAWS Vol. 6 • pp. 315–620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5989320" y="3694176"/>
            <a:ext cx="393192" cy="393192"/>
          </a:xfrm>
          <a:prstGeom prst="ellipse">
            <a:avLst/>
          </a:prstGeom>
          <a:solidFill>
            <a:srgbClr val="44944E"/>
          </a:solidFill>
          <a:ln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473952" y="3685032"/>
            <a:ext cx="233172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52E36"/>
                </a:solidFill>
                <a:latin typeface="Aptos"/>
              </a:rPr>
              <a:t>Waiting for a Visa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686800" y="3685032"/>
            <a:ext cx="274320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90" b="0">
                <a:solidFill>
                  <a:srgbClr val="636F79"/>
                </a:solidFill>
                <a:latin typeface="Aptos"/>
              </a:rPr>
              <a:t>B. R. Ambedkar • BAWS Vol. 12 • pp. 661–691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989320" y="4443984"/>
            <a:ext cx="36576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EF7B19"/>
                </a:solidFill>
                <a:latin typeface="Aptos"/>
              </a:rPr>
              <a:t>RESEARCH → DESIGN CONNECTION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989320" y="4800600"/>
            <a:ext cx="1143000" cy="777240"/>
          </a:xfrm>
          <a:prstGeom prst="roundRect">
            <a:avLst/>
          </a:prstGeom>
          <a:solidFill>
            <a:srgbClr val="FFEFD7"/>
          </a:solidFill>
          <a:ln w="12700">
            <a:solidFill>
              <a:srgbClr val="EF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6035040" y="4873752"/>
            <a:ext cx="10515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1">
                <a:solidFill>
                  <a:srgbClr val="252E36"/>
                </a:solidFill>
                <a:latin typeface="Aptos"/>
              </a:rPr>
              <a:t>PRIMARY SOURCES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044183" y="5138928"/>
            <a:ext cx="1033271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30" b="0">
                <a:solidFill>
                  <a:srgbClr val="636F79"/>
                </a:solidFill>
                <a:latin typeface="Aptos"/>
              </a:rPr>
              <a:t>archive records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7132320" y="5184648"/>
            <a:ext cx="192024" cy="0"/>
          </a:xfrm>
          <a:prstGeom prst="line">
            <a:avLst/>
          </a:prstGeom>
          <a:ln w="1778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7342631" y="4800600"/>
            <a:ext cx="1143000" cy="777240"/>
          </a:xfrm>
          <a:prstGeom prst="roundRect">
            <a:avLst/>
          </a:prstGeom>
          <a:solidFill>
            <a:srgbClr val="E5F0FB"/>
          </a:solidFill>
          <a:ln w="12700">
            <a:solidFill>
              <a:srgbClr val="276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7388352" y="4873752"/>
            <a:ext cx="10515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1">
                <a:solidFill>
                  <a:srgbClr val="252E36"/>
                </a:solidFill>
                <a:latin typeface="Aptos"/>
              </a:rPr>
              <a:t>SCHEMA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7397496" y="5138928"/>
            <a:ext cx="1033271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30" b="0">
                <a:solidFill>
                  <a:srgbClr val="636F79"/>
                </a:solidFill>
                <a:latin typeface="Aptos"/>
              </a:rPr>
              <a:t>normalized metadata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8485632" y="5184648"/>
            <a:ext cx="192023" cy="0"/>
          </a:xfrm>
          <a:prstGeom prst="line">
            <a:avLst/>
          </a:prstGeom>
          <a:ln w="1778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8695944" y="4800600"/>
            <a:ext cx="1143000" cy="777240"/>
          </a:xfrm>
          <a:prstGeom prst="roundRect">
            <a:avLst/>
          </a:prstGeom>
          <a:solidFill>
            <a:srgbClr val="E7F5E7"/>
          </a:solidFill>
          <a:ln w="12700">
            <a:solidFill>
              <a:srgbClr val="449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8741664" y="4873752"/>
            <a:ext cx="10515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1">
                <a:solidFill>
                  <a:srgbClr val="252E36"/>
                </a:solidFill>
                <a:latin typeface="Aptos"/>
              </a:rPr>
              <a:t>SEARCH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750808" y="5138928"/>
            <a:ext cx="1033271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30" b="0">
                <a:solidFill>
                  <a:srgbClr val="636F79"/>
                </a:solidFill>
                <a:latin typeface="Aptos"/>
              </a:rPr>
              <a:t>FTS5 + citations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9838944" y="5184648"/>
            <a:ext cx="192023" cy="0"/>
          </a:xfrm>
          <a:prstGeom prst="line">
            <a:avLst/>
          </a:prstGeom>
          <a:ln w="17780">
            <a:solidFill>
              <a:srgbClr val="D8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Rounded Rectangle 17457"/>
          <p:cNvSpPr/>
          <p:nvPr/>
        </p:nvSpPr>
        <p:spPr>
          <a:xfrm>
            <a:off x="10049255" y="4800600"/>
            <a:ext cx="1143000" cy="777240"/>
          </a:xfrm>
          <a:prstGeom prst="roundRect">
            <a:avLst/>
          </a:prstGeom>
          <a:solidFill>
            <a:srgbClr val="F0E8F8"/>
          </a:solidFill>
          <a:ln w="12700">
            <a:solidFill>
              <a:srgbClr val="7D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10094976" y="4873752"/>
            <a:ext cx="105156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1">
                <a:solidFill>
                  <a:srgbClr val="252E36"/>
                </a:solidFill>
                <a:latin typeface="Aptos"/>
              </a:rPr>
              <a:t>EXPERIENCE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10104119" y="5138928"/>
            <a:ext cx="1033271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30" b="0">
                <a:solidFill>
                  <a:srgbClr val="636F79"/>
                </a:solidFill>
                <a:latin typeface="Aptos"/>
              </a:rPr>
              <a:t>timeline + narration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5989320" y="5687568"/>
            <a:ext cx="5486400" cy="512064"/>
          </a:xfrm>
          <a:prstGeom prst="roundRect">
            <a:avLst/>
          </a:prstGeom>
          <a:solidFill>
            <a:srgbClr val="252E36"/>
          </a:solidFill>
          <a:ln w="12700">
            <a:solidFill>
              <a:srgbClr val="25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Source URLs should be added only after official destination links are verified.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