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12240"/>
          </a:solidFill>
          <a:ln w="25400">
            <a:solidFill>
              <a:srgbClr val="00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2C4"/>
                </a:solidFill>
              </a:defRPr>
            </a:pPr>
            <a:r>
              <a:t>NATIONAL HERITAGE &amp; DIGITAL ARCHIVES TRACK | EDGE AI INITIATIVE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4F8"/>
                </a:solidFill>
              </a:defRPr>
            </a:pPr>
            <a:r>
              <a:t>Dr. B.R. Ambedkar Digital Heritage Memorial Kiosk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15C"/>
                </a:solidFill>
              </a:defRPr>
            </a:pPr>
            <a:r>
              <a:t>Offline Edge AI, Custom Handwriting OCR &amp; Interactive Archival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931920"/>
            <a:ext cx="3200400" cy="1645920"/>
          </a:xfrm>
          <a:prstGeom prst="roundRect">
            <a:avLst/>
          </a:prstGeom>
          <a:solidFill>
            <a:srgbClr val="0A192F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0690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C4"/>
                </a:solidFill>
              </a:defRPr>
            </a:pPr>
            <a:r>
              <a:t>100% Offline Edge Operation</a:t>
            </a:r>
          </a:p>
          <a:p>
            <a:pPr>
              <a:defRPr sz="1050">
                <a:solidFill>
                  <a:srgbClr val="8892B0"/>
                </a:solidFill>
              </a:defRPr>
            </a:pPr>
            <a:r>
              <a:t>Zero Cloud Dependency | Local Mini-PC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931920"/>
            <a:ext cx="3200400" cy="1645920"/>
          </a:xfrm>
          <a:prstGeom prst="roundRect">
            <a:avLst/>
          </a:prstGeom>
          <a:solidFill>
            <a:srgbClr val="0A192F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40690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C4"/>
                </a:solidFill>
              </a:defRPr>
            </a:pPr>
            <a:r>
              <a:t>Custom Handwriting OCR</a:t>
            </a:r>
          </a:p>
          <a:p>
            <a:pPr>
              <a:defRPr sz="1050">
                <a:solidFill>
                  <a:srgbClr val="8892B0"/>
                </a:solidFill>
              </a:defRPr>
            </a:pPr>
            <a:r>
              <a:t>ambedkar_handwritten_v2 LSTM Model for Facsimiles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931920"/>
            <a:ext cx="3200400" cy="1645920"/>
          </a:xfrm>
          <a:prstGeom prst="roundRect">
            <a:avLst/>
          </a:prstGeom>
          <a:solidFill>
            <a:srgbClr val="0A192F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40690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C4"/>
                </a:solidFill>
              </a:defRPr>
            </a:pPr>
            <a:r>
              <a:t>Strict RAG Grounding</a:t>
            </a:r>
          </a:p>
          <a:p>
            <a:pPr>
              <a:defRPr sz="1050">
                <a:solidFill>
                  <a:srgbClr val="8892B0"/>
                </a:solidFill>
              </a:defRPr>
            </a:pPr>
            <a:r>
              <a:t>22 BAWS Volumes &amp; Constituent Assembly Debates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C4"/>
                </a:solidFill>
                <a:latin typeface="Arial"/>
              </a:defRPr>
            </a:pPr>
            <a:r>
              <a:t>PROBLEM CONTEXT | 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The Heritage Preservation Dilemma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49377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D15C"/>
                </a:solidFill>
              </a:defRPr>
            </a:pPr>
            <a:r>
              <a:t>Passive Memorial Experience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Over 14,000 pages of BAWS and debates sit in locked glass vitrines.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Visitors retain &lt;15% of context from brief wall plaques.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Zero interactive search capability for specific historical queries.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74720" cy="49377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D15C"/>
                </a:solidFill>
              </a:defRPr>
            </a:pPr>
            <a:r>
              <a:t>Optical Degradation on Manuscripts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Standard OCR fails on aged 1940s papers and acidic ink bleed.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High error rate on Dr. Ambedkar's handwritten marginalia and notes.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Critical draft amendments remain unsearchable static facsimiles.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371600"/>
            <a:ext cx="3474720" cy="49377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D15C"/>
                </a:solidFill>
              </a:defRPr>
            </a:pPr>
            <a:r>
              <a:t>Edge Connectivity &amp; Reliability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Memorial sites and rural heritage libraries frequently lose broadband.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Cloud-dependent AI models cause latency spikes, SaaS bills, and downtime.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Mandates an air-gapped, 100% offline interactive terminal.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C4"/>
                </a:solidFill>
                <a:latin typeface="Arial"/>
              </a:defRPr>
            </a:pPr>
            <a:r>
              <a:t>SYSTEM DESIGN | 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Multi-Tier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0972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8132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C4"/>
                </a:solidFill>
              </a:defRPr>
            </a:pPr>
            <a:r>
              <a:t>Presentation Layer (Edge Kiosk UI)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43" Capacitive Touch Screen | Dual-Pane Facsimile Viewer | Voice Mic &amp; Directional Audio | Virtual Keyboard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10728655" cy="10972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FFD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1576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D15C"/>
                </a:solidFill>
              </a:defRPr>
            </a:pPr>
            <a:r>
              <a:t>Application &amp; Service Layer (FastAPI)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Asynchronous REST Endpoints | In-Memory Document Cache | Request Rate Limiter | Session Manager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728655" cy="10972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95020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C4"/>
                </a:solidFill>
              </a:defRPr>
            </a:pPr>
            <a:r>
              <a:t>Document Intelligence &amp; OCR Layer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PyMuPDF High-Res Bitmap Extractor | Custom Tesseract 5 LSTM (ambedkar_handwritten_v2) | Contrast Optimizer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10728655" cy="10972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FFD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8464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D15C"/>
                </a:solidFill>
              </a:defRPr>
            </a:pPr>
            <a:r>
              <a:t>Retrieval &amp; Edge Model Inference Layer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Dense Passage Indexer | GGUF Q4_K_M ambedkar01 Local Daemon | Zero-Hallucination Exact Quote Extractor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C4"/>
                </a:solidFill>
                <a:latin typeface="Arial"/>
              </a:defRPr>
            </a:pPr>
            <a:r>
              <a:t>AI ENGINE | 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Local Model Inference &amp; Edge Hardware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49377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C4"/>
                </a:solidFill>
              </a:defRPr>
            </a:pPr>
            <a:r>
              <a:t>Decoupled Daemon Architecture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Host Python 3.14.8 cannot compile native C++ wheels for torch/llama-cpp.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Remedy: Run precompiled native llama-server.exe or Ollama daemon.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FastAPI connects over localhost HTTP socket (zero build friction, 100% stability).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74720" cy="49377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C4"/>
                </a:solidFill>
              </a:defRPr>
            </a:pPr>
            <a:r>
              <a:t>Unified Memory &amp; RAM Budgeting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Total System Memory: 16 GB DDR5 on Industrial Mini-PC.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Model Footprint: GGUF Q4_K_M consumes ~4.1 GB RAM via memory mapping.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System Headroom: Leaves 11.9 GB for OS, PyMuPDF cache, and FastAPI workers.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371600"/>
            <a:ext cx="3474720" cy="49377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C4"/>
                </a:solidFill>
              </a:defRPr>
            </a:pPr>
            <a:r>
              <a:t>Latency &amp; Warmup Strategy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Model weights memory-mapped (--mmap) directly from NVMe SSD.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Boot-time warmup script issues synthetic query during Windows startup.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Visitor first-token latency strictly held under 600 milliseconds.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C4"/>
                </a:solidFill>
                <a:latin typeface="Arial"/>
              </a:defRPr>
            </a:pPr>
            <a:r>
              <a:t>COMPUTER VISION | 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Custom Historical OCR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0972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8132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D15C"/>
                </a:solidFill>
              </a:defRPr>
            </a:pPr>
            <a:r>
              <a:t>1. Acquisition &amp; PyMuPDF Rendering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Extracts uncompressed 300+ DPI bitmaps from archival PDF scans. Handles multi-page Constituent Assembly manuscripts with zero quality loss.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10728655" cy="10972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1576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D15C"/>
                </a:solidFill>
              </a:defRPr>
            </a:pPr>
            <a:r>
              <a:t>2. Image Conditioning &amp; Binarization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Applies contrast stretching, Gaussian adaptive thresholding, and Otsu binarization to clean ink bleed-through and paper yellowing.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728655" cy="10972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95020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D15C"/>
                </a:solidFill>
              </a:defRPr>
            </a:pPr>
            <a:r>
              <a:t>3. Custom Handwriting LSTM Engine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Tesseract 5 model fine-tuned on Dr. Ambedkar's cursive handwriting (ambedkar_handwritten_v2.traineddata). Extracts marginalia.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10728655" cy="10972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8464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D15C"/>
                </a:solidFill>
              </a:defRPr>
            </a:pPr>
            <a:r>
              <a:t>4. Dual-Pane Interactive Viewer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Frontend presents original archival manuscript alongside synchronized, searchable, and selectable OCR 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C4"/>
                </a:solidFill>
                <a:latin typeface="Arial"/>
              </a:defRPr>
            </a:pPr>
            <a:r>
              <a:t>KNOWLEDGE RETRIEVAL | 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RAG Grounding &amp; Constitutional Knowledge 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49377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C4"/>
                </a:solidFill>
              </a:defRPr>
            </a:pPr>
            <a:r>
              <a:t>Comprehensive Primary Corpus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Complete 22 Volumes of Babasaheb Ambedkar: Writings and Speeches.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Official Constituent Assembly Debates (1946–1950).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Seminal works: The Problem of the Rupee, Annihilation of Caste, Castes in India.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74720" cy="49377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C4"/>
                </a:solidFill>
              </a:defRPr>
            </a:pPr>
            <a:r>
              <a:t>Strict Provenance Guardrail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Deterministic citation policy: mandatory [Volume, Chapter, Page, Date].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The system quotes rather than paraphrasing Dr. Ambedkar's words.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Admits historical absence if a question falls outside documented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371600"/>
            <a:ext cx="3474720" cy="49377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C4"/>
                </a:solidFill>
              </a:defRPr>
            </a:pPr>
            <a:r>
              <a:t>Multilingual Acoustic Outreach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Cross-lingual semantic matching for queries in Marathi, Hindi, and English.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Offline text-to-speech engine speaks extracted answers aloud.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Interactive timeline links key speeches directly to historical 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C4"/>
                </a:solidFill>
                <a:latin typeface="Arial"/>
              </a:defRPr>
            </a:pPr>
            <a:r>
              <a:t>DEPLOYMENT ENGINEERING | 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Idempotent Single-Click Setup &amp; Watchdog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0972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8132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C4"/>
                </a:solidFill>
              </a:defRPr>
            </a:pPr>
            <a:r>
              <a:t>Zero-Side-Effect Package Audit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setup_dependencies.py queries importlib.metadata to verify package versions without importing modules. Skips re-installation if present.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10728655" cy="10972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1576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C4"/>
                </a:solidFill>
              </a:defRPr>
            </a:pPr>
            <a:r>
              <a:t>Asset Path &amp; Model Verification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Validates presence of Tesseract OCR binary, ambedkar_handwritten_v2 model weights, and local GGUF model 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728655" cy="10972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95020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C4"/>
                </a:solidFill>
              </a:defRPr>
            </a:pPr>
            <a:r>
              <a:t>Single-Click Launchers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Provided start-local.bat and Create-Desktop-Shortcut.ps1 empower museum staff to operate the terminal with zero command-line interaction.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10728655" cy="10972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8464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C4"/>
                </a:solidFill>
              </a:defRPr>
            </a:pPr>
            <a:r>
              <a:t>Self-Healing System Watchdog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Windows background watchdog monitors FastAPI health endpoint and restarts local services automatically if memory threshold is exceeded.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C4"/>
                </a:solidFill>
                <a:latin typeface="Arial"/>
              </a:defRPr>
            </a:pPr>
            <a:r>
              <a:t>HARDWARE &amp; EXPERIENCE | 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Industrial Kiosk Specifications &amp; UX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57800" cy="49377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FFD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800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D15C"/>
                </a:solidFill>
              </a:defRPr>
            </a:pPr>
            <a:r>
              <a:t>Industrial Hardware Enclosure</a:t>
            </a:r>
          </a:p>
          <a:p>
            <a:pPr>
              <a:defRPr sz="1150">
                <a:solidFill>
                  <a:srgbClr val="F0F4F8"/>
                </a:solidFill>
              </a:defRPr>
            </a:pPr>
            <a:r>
              <a:t>• Vandal-resistant 1.5mm powder-coated cold-rolled steel chassis.</a:t>
            </a:r>
          </a:p>
          <a:p>
            <a:pPr>
              <a:defRPr sz="1150">
                <a:solidFill>
                  <a:srgbClr val="F0F4F8"/>
                </a:solidFill>
              </a:defRPr>
            </a:pPr>
            <a:r>
              <a:t>• 43" 10-point capacitive commercial touch display (500 nits, anti-glare).</a:t>
            </a:r>
          </a:p>
          <a:p>
            <a:pPr>
              <a:defRPr sz="1150">
                <a:solidFill>
                  <a:srgbClr val="F0F4F8"/>
                </a:solidFill>
              </a:defRPr>
            </a:pPr>
            <a:r>
              <a:t>• Directional acoustic spotlight speaker for localized museum audio.</a:t>
            </a:r>
          </a:p>
          <a:p>
            <a:pPr>
              <a:defRPr sz="1150">
                <a:solidFill>
                  <a:srgbClr val="F0F4F8"/>
                </a:solidFill>
              </a:defRPr>
            </a:pPr>
            <a:r>
              <a:t>• Integrated 1000VA Online UPS providing 30 minutes of emergency runtime.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49377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00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C4"/>
                </a:solidFill>
              </a:defRPr>
            </a:pPr>
            <a:r>
              <a:t>Interactive Visitor Experiences</a:t>
            </a:r>
          </a:p>
          <a:p>
            <a:pPr>
              <a:defRPr sz="1150">
                <a:solidFill>
                  <a:srgbClr val="F0F4F8"/>
                </a:solidFill>
              </a:defRPr>
            </a:pPr>
            <a:r>
              <a:t>• 'Ask Babasaheb' Natural Language Q&amp;A on constitutional principles.</a:t>
            </a:r>
          </a:p>
          <a:p>
            <a:pPr>
              <a:defRPr sz="1150">
                <a:solidFill>
                  <a:srgbClr val="F0F4F8"/>
                </a:solidFill>
              </a:defRPr>
            </a:pPr>
            <a:r>
              <a:t>• 'Constitutional Timeline' Interactive touch exploration of 1946–1950.</a:t>
            </a:r>
          </a:p>
          <a:p>
            <a:pPr>
              <a:defRPr sz="1150">
                <a:solidFill>
                  <a:srgbClr val="F0F4F8"/>
                </a:solidFill>
              </a:defRPr>
            </a:pPr>
            <a:r>
              <a:t>• 'Manuscript Magnifier' High-resolution deep zoom into handwritten drafts.</a:t>
            </a:r>
          </a:p>
          <a:p>
            <a:pPr>
              <a:defRPr sz="1150">
                <a:solidFill>
                  <a:srgbClr val="F0F4F8"/>
                </a:solidFill>
              </a:defRPr>
            </a:pPr>
            <a:r>
              <a:t>• 'Audio Speeches' Listening station with synchronized multilingual 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C4"/>
                </a:solidFill>
                <a:latin typeface="Arial"/>
              </a:defRPr>
            </a:pPr>
            <a:r>
              <a:t>ENGINEERING RESILIENCE | SLIDE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Troubleshooting &amp; Edge Reliability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0972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8132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D15C"/>
                </a:solidFill>
              </a:defRPr>
            </a:pPr>
            <a:r>
              <a:t>Issue: Python 3.14 Native Wheel Incompatibility</a:t>
            </a:r>
          </a:p>
          <a:p>
            <a:pPr>
              <a:defRPr sz="1050">
                <a:solidFill>
                  <a:srgbClr val="F0F4F8"/>
                </a:solidFill>
              </a:defRPr>
            </a:pPr>
            <a:r>
              <a:t>Diagnosis: Missing pre-built PyTorch/LLM C++ wheels on Windows. | Solution: Decouple inference into precompiled native daemon (llama-server.exe/Ollama); query via HTTP.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10728655" cy="10972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1576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D15C"/>
                </a:solidFill>
              </a:defRPr>
            </a:pPr>
            <a:r>
              <a:t>Issue: Kiosk Memory Leak / OOM Risk</a:t>
            </a:r>
          </a:p>
          <a:p>
            <a:pPr>
              <a:defRPr sz="1050">
                <a:solidFill>
                  <a:srgbClr val="F0F4F8"/>
                </a:solidFill>
              </a:defRPr>
            </a:pPr>
            <a:r>
              <a:t>Diagnosis: Continuous visitor sessions causing memory fragmentation. | Solution: Memory-mapped model weights (--mmap), periodic garbage collection, and 6-hour automated session flush.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728655" cy="10972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95020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D15C"/>
                </a:solidFill>
              </a:defRPr>
            </a:pPr>
            <a:r>
              <a:t>Issue: Network Dropouts &amp; Offline Air-Gap</a:t>
            </a:r>
          </a:p>
          <a:p>
            <a:pPr>
              <a:defRPr sz="1050">
                <a:solidFill>
                  <a:srgbClr val="F0F4F8"/>
                </a:solidFill>
              </a:defRPr>
            </a:pPr>
            <a:r>
              <a:t>Diagnosis: Remote memorial sites losing broadband connectivity. | Solution: 100% local RAG vector index, local OCR engine, and local model weights; zero external API calls.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10728655" cy="10972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8464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D15C"/>
                </a:solidFill>
              </a:defRPr>
            </a:pPr>
            <a:r>
              <a:t>Issue: Thermal &amp; Acoustic Constraints</a:t>
            </a:r>
          </a:p>
          <a:p>
            <a:pPr>
              <a:defRPr sz="1050">
                <a:solidFill>
                  <a:srgbClr val="F0F4F8"/>
                </a:solidFill>
              </a:defRPr>
            </a:pPr>
            <a:r>
              <a:t>Diagnosis: High CPU usage in enclosed kiosk housing during visitor rush. | Solution: Quiet duct-fan cooling keeping CPU temperatures below 65°C under sustained inference load.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C4"/>
                </a:solidFill>
                <a:latin typeface="Arial"/>
              </a:defRPr>
            </a:pPr>
            <a:r>
              <a:t>DEPLOYMENT ROADMAP | 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Project Roadmap, Milestones &amp; National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49377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C4"/>
                </a:solidFill>
              </a:defRPr>
            </a:pPr>
            <a:r>
              <a:t>Phase 1: Working Prototype (Current)</a:t>
            </a:r>
          </a:p>
          <a:p>
            <a:pPr>
              <a:defRPr sz="1050">
                <a:solidFill>
                  <a:srgbClr val="F0F4F8"/>
                </a:solidFill>
              </a:defRPr>
            </a:pPr>
            <a:r>
              <a:t>• Complete local FastAPI backend + PyMuPDF viewer.</a:t>
            </a:r>
          </a:p>
          <a:p>
            <a:pPr>
              <a:defRPr sz="1050">
                <a:solidFill>
                  <a:srgbClr val="F0F4F8"/>
                </a:solidFill>
              </a:defRPr>
            </a:pPr>
            <a:r>
              <a:t>• Fine-tuned handwriting OCR model path verified.</a:t>
            </a:r>
          </a:p>
          <a:p>
            <a:pPr>
              <a:defRPr sz="1050">
                <a:solidFill>
                  <a:srgbClr val="F0F4F8"/>
                </a:solidFill>
              </a:defRPr>
            </a:pPr>
            <a:r>
              <a:t>• Local GGUF model integration and single-click launch.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74720" cy="49377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C4"/>
                </a:solidFill>
              </a:defRPr>
            </a:pPr>
            <a:r>
              <a:t>Phase 2: Memorial Pilot Rollout (Months 1–6)</a:t>
            </a:r>
          </a:p>
          <a:p>
            <a:pPr>
              <a:defRPr sz="1050">
                <a:solidFill>
                  <a:srgbClr val="F0F4F8"/>
                </a:solidFill>
              </a:defRPr>
            </a:pPr>
            <a:r>
              <a:t>• Deploy prototype kiosks at Dr. Ambedkar International Centre (DAIC), New Delhi.</a:t>
            </a:r>
          </a:p>
          <a:p>
            <a:pPr>
              <a:defRPr sz="1050">
                <a:solidFill>
                  <a:srgbClr val="F0F4F8"/>
                </a:solidFill>
              </a:defRPr>
            </a:pPr>
            <a:r>
              <a:t>• Install pilot kiosks at Chaitya Bhoomi (Mumbai) and Deekshabhoomi (Nagpur).</a:t>
            </a:r>
          </a:p>
          <a:p>
            <a:pPr>
              <a:defRPr sz="1050">
                <a:solidFill>
                  <a:srgbClr val="F0F4F8"/>
                </a:solidFill>
              </a:defRPr>
            </a:pPr>
            <a:r>
              <a:t>• Conduct visitor usability studies and gather visitor inquiry feedback.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371600"/>
            <a:ext cx="3474720" cy="49377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C4"/>
                </a:solidFill>
              </a:defRPr>
            </a:pPr>
            <a:r>
              <a:t>Phase 3: National Archival Grid (Months 7–18)</a:t>
            </a:r>
          </a:p>
          <a:p>
            <a:pPr>
              <a:defRPr sz="1050">
                <a:solidFill>
                  <a:srgbClr val="F0F4F8"/>
                </a:solidFill>
              </a:defRPr>
            </a:pPr>
            <a:r>
              <a:t>• Expand to 50+ university and state central libraries across India.</a:t>
            </a:r>
          </a:p>
          <a:p>
            <a:pPr>
              <a:defRPr sz="1050">
                <a:solidFill>
                  <a:srgbClr val="F0F4F8"/>
                </a:solidFill>
              </a:defRPr>
            </a:pPr>
            <a:r>
              <a:t>• Centralized telemetry for visitor search trends while maintaining offline edge terminal privacy.</a:t>
            </a:r>
          </a:p>
          <a:p>
            <a:pPr>
              <a:defRPr sz="1050">
                <a:solidFill>
                  <a:srgbClr val="F0F4F8"/>
                </a:solidFill>
              </a:defRPr>
            </a:pPr>
            <a:r>
              <a:t>• Federated indexing for other freedom fighters and constitutional architects.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