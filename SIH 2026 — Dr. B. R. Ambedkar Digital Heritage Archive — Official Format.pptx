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Times New Roman Bold" charset="1" panose="02020803070505020304"/>
      <p:regular r:id="rId12"/>
    </p:embeddedFont>
    <p:embeddedFont>
      <p:font typeface="Garamond Bold" charset="1" panose="02020804030307010803"/>
      <p:regular r:id="rId13"/>
    </p:embeddedFont>
    <p:embeddedFont>
      <p:font typeface="Arial" charset="1" panose="020B0604020202020204"/>
      <p:regular r:id="rId14"/>
    </p:embeddedFont>
    <p:embeddedFont>
      <p:font typeface="Arial Bold" charset="1" panose="020B0704020202020204"/>
      <p:regular r:id="rId18"/>
    </p:embeddedFont>
    <p:embeddedFont>
      <p:font typeface="Arimo Bold" charset="1" panose="020B0704020202020204"/>
      <p:regular r:id="rId19"/>
    </p:embeddedFont>
    <p:embeddedFont>
      <p:font typeface="Arimo" charset="1" panose="020B0604020202020204"/>
      <p:regular r:id="rId20"/>
    </p:embeddedFont>
    <p:embeddedFont>
      <p:font typeface="Calibri (MS)" charset="1" panose="020F050202020403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notesMasters/notesMaster1.xml" Type="http://schemas.openxmlformats.org/officeDocument/2006/relationships/notesMaster"/><Relationship Id="rId16" Target="theme/theme2.xml" Type="http://schemas.openxmlformats.org/officeDocument/2006/relationships/theme"/><Relationship Id="rId17" Target="notesSlides/notesSlide1.xml" Type="http://schemas.openxmlformats.org/officeDocument/2006/relationships/notes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85165" y="1277283"/>
            <a:ext cx="6957908" cy="7732452"/>
          </a:xfrm>
          <a:custGeom>
            <a:avLst/>
            <a:gdLst/>
            <a:ahLst/>
            <a:cxnLst/>
            <a:rect r="r" b="b" t="t" l="l"/>
            <a:pathLst>
              <a:path h="7732452" w="6957908">
                <a:moveTo>
                  <a:pt x="0" y="0"/>
                </a:moveTo>
                <a:lnTo>
                  <a:pt x="6957908" y="0"/>
                </a:lnTo>
                <a:lnTo>
                  <a:pt x="6957908" y="7732453"/>
                </a:lnTo>
                <a:lnTo>
                  <a:pt x="0" y="77324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2333" y="2573817"/>
            <a:ext cx="4805267" cy="5139357"/>
            <a:chOff x="0" y="0"/>
            <a:chExt cx="6407023" cy="68524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07023" cy="6852412"/>
            </a:xfrm>
            <a:custGeom>
              <a:avLst/>
              <a:gdLst/>
              <a:ahLst/>
              <a:cxnLst/>
              <a:rect r="r" b="b" t="t" l="l"/>
              <a:pathLst>
                <a:path h="6852412" w="6407023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49475" b="-1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959969" y="990067"/>
            <a:ext cx="12618720" cy="2566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</a:p>
          <a:p>
            <a:pPr algn="ctr">
              <a:lnSpc>
                <a:spcPts val="5759"/>
              </a:lnSpc>
            </a:pP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496929" y="-790137"/>
            <a:ext cx="15544800" cy="3114675"/>
            <a:chOff x="0" y="0"/>
            <a:chExt cx="20726400" cy="41529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26400" cy="4152900"/>
            </a:xfrm>
            <a:custGeom>
              <a:avLst/>
              <a:gdLst/>
              <a:ahLst/>
              <a:cxnLst/>
              <a:rect r="r" b="b" t="t" l="l"/>
              <a:pathLst>
                <a:path h="41529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246" r="0" b="-4724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588369" y="3160395"/>
            <a:ext cx="8703945" cy="2987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32"/>
              </a:lnSpc>
              <a:spcBef>
                <a:spcPct val="0"/>
              </a:spcBef>
            </a:pPr>
            <a:r>
              <a:rPr lang="en-US" sz="2550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 Statement ID – 26096</a:t>
            </a:r>
          </a:p>
          <a:p>
            <a:pPr algn="l" marL="0" indent="0" lvl="0">
              <a:lnSpc>
                <a:spcPts val="2932"/>
              </a:lnSpc>
              <a:spcBef>
                <a:spcPct val="0"/>
              </a:spcBef>
            </a:pPr>
            <a:r>
              <a:rPr lang="en-US" sz="2550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 Statement Title – Dr. B. R. Ambedkar Digital Heritage Archive</a:t>
            </a:r>
          </a:p>
          <a:p>
            <a:pPr algn="l" marL="0" indent="0" lvl="0">
              <a:lnSpc>
                <a:spcPts val="2932"/>
              </a:lnSpc>
              <a:spcBef>
                <a:spcPct val="0"/>
              </a:spcBef>
            </a:pPr>
            <a:r>
              <a:rPr lang="en-US" sz="2550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Theme – Smart Education</a:t>
            </a:r>
          </a:p>
          <a:p>
            <a:pPr algn="l" marL="0" indent="0" lvl="0">
              <a:lnSpc>
                <a:spcPts val="2932"/>
              </a:lnSpc>
              <a:spcBef>
                <a:spcPct val="0"/>
              </a:spcBef>
            </a:pPr>
            <a:r>
              <a:rPr lang="en-US" sz="2550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PS Category – Hardware (with Integrated Software)</a:t>
            </a:r>
          </a:p>
          <a:p>
            <a:pPr algn="l" marL="0" indent="0" lvl="0">
              <a:lnSpc>
                <a:spcPts val="2932"/>
              </a:lnSpc>
              <a:spcBef>
                <a:spcPct val="0"/>
              </a:spcBef>
            </a:pPr>
            <a:r>
              <a:rPr lang="en-US" sz="2550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 ID – [FILL FROM SIH PORTAL]</a:t>
            </a:r>
          </a:p>
          <a:p>
            <a:pPr algn="l" marL="0" indent="0" lvl="0">
              <a:lnSpc>
                <a:spcPts val="2932"/>
              </a:lnSpc>
              <a:spcBef>
                <a:spcPct val="0"/>
              </a:spcBef>
            </a:pPr>
            <a:r>
              <a:rPr lang="en-US" sz="2550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 Name – [FILL EXACTLY AS REGISTERED ON PORTAL]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4501" y="0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</a:p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IDEA TITLE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72390" y="3162148"/>
            <a:ext cx="18105120" cy="4870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048" indent="-190024" lvl="1">
              <a:lnSpc>
                <a:spcPts val="226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00" strike="noStrike" u="sng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SOLUTION FLOW</a:t>
            </a:r>
          </a:p>
          <a:p>
            <a:pPr algn="l" marL="380048" indent="-190024" lvl="1">
              <a:lnSpc>
                <a:spcPts val="2268"/>
              </a:lnSpc>
              <a:spcBef>
                <a:spcPct val="0"/>
              </a:spcBef>
              <a:buFont typeface="Arial"/>
              <a:buChar char="•"/>
            </a:pPr>
          </a:p>
          <a:p>
            <a:pPr algn="l" marL="380048" indent="-190024" lvl="1">
              <a:lnSpc>
                <a:spcPts val="226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00" strike="noStrike" u="sng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📚 Fragmented historical sources</a:t>
            </a:r>
          </a:p>
          <a:p>
            <a:pPr algn="l" marL="380048" indent="-190024" lvl="1">
              <a:lnSpc>
                <a:spcPts val="226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00" strike="noStrike" u="sng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→ 🗂️ Unified digital archive</a:t>
            </a:r>
          </a:p>
          <a:p>
            <a:pPr algn="l" marL="380048" indent="-190024" lvl="1">
              <a:lnSpc>
                <a:spcPts val="226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00" strike="noStrike" u="sng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→ 🔎 Cited search + research assistant</a:t>
            </a:r>
          </a:p>
          <a:p>
            <a:pPr algn="l" marL="380048" indent="-190024" lvl="1">
              <a:lnSpc>
                <a:spcPts val="226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00" strike="noStrike" u="sng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→ 🕒 Timeline + accessible narration</a:t>
            </a:r>
          </a:p>
          <a:p>
            <a:pPr algn="l" marL="380048" indent="-190024" lvl="1">
              <a:lnSpc>
                <a:spcPts val="226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00" strike="noStrike" u="sng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→ 🖥️ Web / proposed institutional kiosk</a:t>
            </a:r>
          </a:p>
          <a:p>
            <a:pPr algn="l" marL="380048" indent="-190024" lvl="1">
              <a:lnSpc>
                <a:spcPts val="2268"/>
              </a:lnSpc>
              <a:spcBef>
                <a:spcPct val="0"/>
              </a:spcBef>
              <a:buFont typeface="Arial"/>
              <a:buChar char="•"/>
            </a:pPr>
          </a:p>
          <a:p>
            <a:pPr algn="l" marL="380048" indent="-190024" lvl="1">
              <a:lnSpc>
                <a:spcPts val="226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00" strike="noStrike" u="sng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HOW IT ADDRESSES THE PROBLEM</a:t>
            </a:r>
          </a:p>
          <a:p>
            <a:pPr algn="l" marL="380048" indent="-190024" lvl="1">
              <a:lnSpc>
                <a:spcPts val="226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00" strike="noStrike" u="sng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• Collects Internet Archive, Constituent Assembly Debates and Foundation/BAWS records into one governed corpus.</a:t>
            </a:r>
          </a:p>
          <a:p>
            <a:pPr algn="l" marL="380048" indent="-190024" lvl="1">
              <a:lnSpc>
                <a:spcPts val="226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00" strike="noStrike" u="sng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• Normalizes metadata and validates records before indexing.</a:t>
            </a:r>
          </a:p>
          <a:p>
            <a:pPr algn="l" marL="380048" indent="-190024" lvl="1">
              <a:lnSpc>
                <a:spcPts val="226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00" strike="noStrike" u="sng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• OCR is human-reviewed before ingestion; search results retain archive citations.</a:t>
            </a:r>
          </a:p>
          <a:p>
            <a:pPr algn="l" marL="380048" indent="-190024" lvl="1">
              <a:lnSpc>
                <a:spcPts val="2268"/>
              </a:lnSpc>
              <a:spcBef>
                <a:spcPct val="0"/>
              </a:spcBef>
              <a:buFont typeface="Arial"/>
              <a:buChar char="•"/>
            </a:pPr>
          </a:p>
          <a:p>
            <a:pPr algn="l" marL="380048" indent="-190024" lvl="1">
              <a:lnSpc>
                <a:spcPts val="226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00" strike="noStrike" u="sng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INNOVATION &amp; UNIQUENESS</a:t>
            </a:r>
          </a:p>
          <a:p>
            <a:pPr algn="l" marL="380048" indent="-190024" lvl="1">
              <a:lnSpc>
                <a:spcPts val="226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00" strike="noStrike" u="sng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• Archive-grounded retrieval instead of unsupported answers.</a:t>
            </a:r>
          </a:p>
          <a:p>
            <a:pPr algn="l" marL="380048" indent="-190024" lvl="1">
              <a:lnSpc>
                <a:spcPts val="226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00" strike="noStrike" u="sng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• Timeline + research + narration in one institutional interface.</a:t>
            </a:r>
          </a:p>
          <a:p>
            <a:pPr algn="l" marL="380048" indent="-190024" lvl="1">
              <a:lnSpc>
                <a:spcPts val="226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00" strike="noStrike" u="sng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• Current baseline: 530 records / 86,624 indexed words / 835 embedding-ready chunks.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75612" y="359321"/>
            <a:ext cx="1915887" cy="1249101"/>
            <a:chOff x="0" y="0"/>
            <a:chExt cx="2554516" cy="1665468"/>
          </a:xfrm>
        </p:grpSpPr>
        <p:sp>
          <p:nvSpPr>
            <p:cNvPr name="Freeform 15" id="15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40"/>
                </a:lnSpc>
                <a:spcBef>
                  <a:spcPct val="0"/>
                </a:spcBef>
              </a:pPr>
              <a:r>
                <a:rPr lang="en-US" sz="2700" strike="noStrike" u="none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[TEAM NAME]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433555" y="2409977"/>
            <a:ext cx="13895070" cy="6687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66474" indent="-183237" lvl="1">
              <a:lnSpc>
                <a:spcPts val="2126"/>
              </a:lnSpc>
              <a:spcBef>
                <a:spcPct val="0"/>
              </a:spcBef>
              <a:buFont typeface="Arial"/>
              <a:buChar char="•"/>
            </a:pPr>
            <a:r>
              <a:rPr lang="en-US" sz="2025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TECHNOLOGY STACK</a:t>
            </a:r>
          </a:p>
          <a:p>
            <a:pPr algn="just" marL="366474" indent="-183237" lvl="1">
              <a:lnSpc>
                <a:spcPts val="2126"/>
              </a:lnSpc>
              <a:spcBef>
                <a:spcPct val="0"/>
              </a:spcBef>
              <a:buFont typeface="Arial"/>
              <a:buChar char="•"/>
            </a:pPr>
            <a:r>
              <a:rPr lang="en-US" sz="2025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Frontend: HTML / CSS / JavaScript + Tailwind CSS + Font Awesome</a:t>
            </a:r>
          </a:p>
          <a:p>
            <a:pPr algn="just" marL="366474" indent="-183237" lvl="1">
              <a:lnSpc>
                <a:spcPts val="2126"/>
              </a:lnSpc>
              <a:spcBef>
                <a:spcPct val="0"/>
              </a:spcBef>
              <a:buFont typeface="Arial"/>
              <a:buChar char="•"/>
            </a:pPr>
            <a:r>
              <a:rPr lang="en-US" sz="2025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Backend: Python + FastAPI</a:t>
            </a:r>
          </a:p>
          <a:p>
            <a:pPr algn="just" marL="366474" indent="-183237" lvl="1">
              <a:lnSpc>
                <a:spcPts val="2126"/>
              </a:lnSpc>
              <a:spcBef>
                <a:spcPct val="0"/>
              </a:spcBef>
              <a:buFont typeface="Arial"/>
              <a:buChar char="•"/>
            </a:pPr>
            <a:r>
              <a:rPr lang="en-US" sz="2025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Data: JSON + metadata registry / CSV + SQLite + FTS5</a:t>
            </a:r>
          </a:p>
          <a:p>
            <a:pPr algn="just" marL="366474" indent="-183237" lvl="1">
              <a:lnSpc>
                <a:spcPts val="2126"/>
              </a:lnSpc>
              <a:spcBef>
                <a:spcPct val="0"/>
              </a:spcBef>
              <a:buFont typeface="Arial"/>
              <a:buChar char="•"/>
            </a:pPr>
            <a:r>
              <a:rPr lang="en-US" sz="2025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OCR: PyMuPDF / Pillow / pytesseract / Tesseract + human review</a:t>
            </a:r>
          </a:p>
          <a:p>
            <a:pPr algn="just" marL="366474" indent="-183237" lvl="1">
              <a:lnSpc>
                <a:spcPts val="2126"/>
              </a:lnSpc>
              <a:spcBef>
                <a:spcPct val="0"/>
              </a:spcBef>
              <a:buFont typeface="Arial"/>
              <a:buChar char="•"/>
            </a:pPr>
            <a:r>
              <a:rPr lang="en-US" sz="2025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Audio: Browser SpeechSynthesis; optional ElevenLabs TTS</a:t>
            </a:r>
          </a:p>
          <a:p>
            <a:pPr algn="just" marL="366474" indent="-183237" lvl="1">
              <a:lnSpc>
                <a:spcPts val="2126"/>
              </a:lnSpc>
              <a:spcBef>
                <a:spcPct val="0"/>
              </a:spcBef>
              <a:buFont typeface="Arial"/>
              <a:buChar char="•"/>
            </a:pPr>
            <a:r>
              <a:rPr lang="en-US" sz="2025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Proposed deployment: institutional server + touchscreen kiosk / smart display</a:t>
            </a:r>
          </a:p>
          <a:p>
            <a:pPr algn="just" marL="366474" indent="-183237" lvl="1">
              <a:lnSpc>
                <a:spcPts val="2126"/>
              </a:lnSpc>
              <a:spcBef>
                <a:spcPct val="0"/>
              </a:spcBef>
              <a:buFont typeface="Arial"/>
              <a:buChar char="•"/>
            </a:pPr>
          </a:p>
          <a:p>
            <a:pPr algn="just" marL="366474" indent="-183237" lvl="1">
              <a:lnSpc>
                <a:spcPts val="2126"/>
              </a:lnSpc>
              <a:spcBef>
                <a:spcPct val="0"/>
              </a:spcBef>
              <a:buFont typeface="Arial"/>
              <a:buChar char="•"/>
            </a:pPr>
            <a:r>
              <a:rPr lang="en-US" sz="2025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ARCHITECTURE WORKFLOW</a:t>
            </a:r>
          </a:p>
          <a:p>
            <a:pPr algn="just" marL="366474" indent="-183237" lvl="1">
              <a:lnSpc>
                <a:spcPts val="2126"/>
              </a:lnSpc>
              <a:spcBef>
                <a:spcPct val="0"/>
              </a:spcBef>
              <a:buFont typeface="Arial"/>
              <a:buChar char="•"/>
            </a:pPr>
            <a:r>
              <a:rPr lang="en-US" sz="2025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🌐 Internet Archive + CAD + Foundation/BAWS</a:t>
            </a:r>
          </a:p>
          <a:p>
            <a:pPr algn="just" marL="366474" indent="-183237" lvl="1">
              <a:lnSpc>
                <a:spcPts val="2126"/>
              </a:lnSpc>
              <a:spcBef>
                <a:spcPct val="0"/>
              </a:spcBef>
              <a:buFont typeface="Arial"/>
              <a:buChar char="•"/>
            </a:pPr>
            <a:r>
              <a:rPr lang="en-US" sz="2025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↓</a:t>
            </a:r>
          </a:p>
          <a:p>
            <a:pPr algn="just" marL="366474" indent="-183237" lvl="1">
              <a:lnSpc>
                <a:spcPts val="2126"/>
              </a:lnSpc>
              <a:spcBef>
                <a:spcPct val="0"/>
              </a:spcBef>
              <a:buFont typeface="Arial"/>
              <a:buChar char="•"/>
            </a:pPr>
            <a:r>
              <a:rPr lang="en-US" sz="2025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📥 Collect → Normalize → Validate → OCR Review</a:t>
            </a:r>
          </a:p>
          <a:p>
            <a:pPr algn="just" marL="366474" indent="-183237" lvl="1">
              <a:lnSpc>
                <a:spcPts val="2126"/>
              </a:lnSpc>
              <a:spcBef>
                <a:spcPct val="0"/>
              </a:spcBef>
              <a:buFont typeface="Arial"/>
              <a:buChar char="•"/>
            </a:pPr>
            <a:r>
              <a:rPr lang="en-US" sz="2025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↓</a:t>
            </a:r>
          </a:p>
          <a:p>
            <a:pPr algn="just" marL="366474" indent="-183237" lvl="1">
              <a:lnSpc>
                <a:spcPts val="2126"/>
              </a:lnSpc>
              <a:spcBef>
                <a:spcPct val="0"/>
              </a:spcBef>
              <a:buFont typeface="Arial"/>
              <a:buChar char="•"/>
            </a:pPr>
            <a:r>
              <a:rPr lang="en-US" sz="2025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🗃️ JSON + Metadata Registry + SQLite / FTS5</a:t>
            </a:r>
          </a:p>
          <a:p>
            <a:pPr algn="just" marL="366474" indent="-183237" lvl="1">
              <a:lnSpc>
                <a:spcPts val="2126"/>
              </a:lnSpc>
              <a:spcBef>
                <a:spcPct val="0"/>
              </a:spcBef>
              <a:buFont typeface="Arial"/>
              <a:buChar char="•"/>
            </a:pPr>
            <a:r>
              <a:rPr lang="en-US" sz="2025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↓</a:t>
            </a:r>
          </a:p>
          <a:p>
            <a:pPr algn="just" marL="366474" indent="-183237" lvl="1">
              <a:lnSpc>
                <a:spcPts val="2126"/>
              </a:lnSpc>
              <a:spcBef>
                <a:spcPct val="0"/>
              </a:spcBef>
              <a:buFont typeface="Arial"/>
              <a:buChar char="•"/>
            </a:pPr>
            <a:r>
              <a:rPr lang="en-US" sz="2025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⚙️ FastAPI Archive Services + Cited Retrieval</a:t>
            </a:r>
          </a:p>
          <a:p>
            <a:pPr algn="just" marL="366474" indent="-183237" lvl="1">
              <a:lnSpc>
                <a:spcPts val="2126"/>
              </a:lnSpc>
              <a:spcBef>
                <a:spcPct val="0"/>
              </a:spcBef>
              <a:buFont typeface="Arial"/>
              <a:buChar char="•"/>
            </a:pPr>
            <a:r>
              <a:rPr lang="en-US" sz="2025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↓</a:t>
            </a:r>
          </a:p>
          <a:p>
            <a:pPr algn="just" marL="366474" indent="-183237" lvl="1">
              <a:lnSpc>
                <a:spcPts val="2126"/>
              </a:lnSpc>
              <a:spcBef>
                <a:spcPct val="0"/>
              </a:spcBef>
              <a:buFont typeface="Arial"/>
              <a:buChar char="•"/>
            </a:pPr>
            <a:r>
              <a:rPr lang="en-US" sz="2025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💻 Browse / Search / Read / Timeline / Research / Narration</a:t>
            </a:r>
          </a:p>
          <a:p>
            <a:pPr algn="just" marL="366474" indent="-183237" lvl="1">
              <a:lnSpc>
                <a:spcPts val="2126"/>
              </a:lnSpc>
              <a:spcBef>
                <a:spcPct val="0"/>
              </a:spcBef>
              <a:buFont typeface="Arial"/>
              <a:buChar char="•"/>
            </a:pPr>
            <a:r>
              <a:rPr lang="en-US" sz="2025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↓</a:t>
            </a:r>
          </a:p>
          <a:p>
            <a:pPr algn="just" marL="366474" indent="-183237" lvl="1">
              <a:lnSpc>
                <a:spcPts val="2126"/>
              </a:lnSpc>
              <a:spcBef>
                <a:spcPct val="0"/>
              </a:spcBef>
              <a:buFont typeface="Arial"/>
              <a:buChar char="•"/>
            </a:pPr>
            <a:r>
              <a:rPr lang="en-US" sz="2025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👥 Students • Researchers • Archivists • Visitors • Public</a:t>
            </a:r>
          </a:p>
          <a:p>
            <a:pPr algn="just" marL="366474" indent="-183237" lvl="1">
              <a:lnSpc>
                <a:spcPts val="2126"/>
              </a:lnSpc>
              <a:spcBef>
                <a:spcPct val="0"/>
              </a:spcBef>
              <a:buFont typeface="Arial"/>
              <a:buChar char="•"/>
            </a:pPr>
          </a:p>
          <a:p>
            <a:pPr algn="just" marL="366474" indent="-183237" lvl="1">
              <a:lnSpc>
                <a:spcPts val="2126"/>
              </a:lnSpc>
              <a:spcBef>
                <a:spcPct val="0"/>
              </a:spcBef>
              <a:buFont typeface="Arial"/>
              <a:buChar char="•"/>
            </a:pPr>
            <a:r>
              <a:rPr lang="en-US" sz="2025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CURRENT STATUS</a:t>
            </a:r>
          </a:p>
          <a:p>
            <a:pPr algn="just" marL="366474" indent="-183237" lvl="1">
              <a:lnSpc>
                <a:spcPts val="2126"/>
              </a:lnSpc>
              <a:spcBef>
                <a:spcPct val="0"/>
              </a:spcBef>
              <a:buFont typeface="Arial"/>
              <a:buChar char="•"/>
            </a:pPr>
            <a:r>
              <a:rPr lang="en-US" sz="2025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✓ Search prototype and archive UI path exist</a:t>
            </a:r>
          </a:p>
          <a:p>
            <a:pPr algn="just" marL="366474" indent="-183237" lvl="1">
              <a:lnSpc>
                <a:spcPts val="2126"/>
              </a:lnSpc>
              <a:spcBef>
                <a:spcPct val="0"/>
              </a:spcBef>
              <a:buFont typeface="Arial"/>
              <a:buChar char="•"/>
            </a:pPr>
            <a:r>
              <a:rPr lang="en-US" sz="2025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△ Live vector/semantic search is planned, not implemented</a:t>
            </a:r>
          </a:p>
          <a:p>
            <a:pPr algn="just" marL="366474" indent="-183237" lvl="1">
              <a:lnSpc>
                <a:spcPts val="2126"/>
              </a:lnSpc>
              <a:spcBef>
                <a:spcPct val="0"/>
              </a:spcBef>
              <a:buFont typeface="Arial"/>
              <a:buChar char="•"/>
            </a:pPr>
            <a:r>
              <a:rPr lang="en-US" sz="2025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△ Hardware deployment is proposed, not yet integrated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75612" y="359321"/>
            <a:ext cx="1915887" cy="1249101"/>
            <a:chOff x="0" y="0"/>
            <a:chExt cx="2554516" cy="1665468"/>
          </a:xfrm>
        </p:grpSpPr>
        <p:sp>
          <p:nvSpPr>
            <p:cNvPr name="Freeform 15" id="15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40"/>
                </a:lnSpc>
                <a:spcBef>
                  <a:spcPct val="0"/>
                </a:spcBef>
              </a:pPr>
              <a:r>
                <a:rPr lang="en-US" sz="2700" strike="noStrike" u="none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[TEAM NAME]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433555" y="2485651"/>
            <a:ext cx="13895070" cy="5930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66474" indent="-183237" lvl="1">
              <a:lnSpc>
                <a:spcPts val="2085"/>
              </a:lnSpc>
              <a:spcBef>
                <a:spcPct val="0"/>
              </a:spcBef>
              <a:buFont typeface="Arial"/>
              <a:buChar char="•"/>
            </a:pPr>
            <a:r>
              <a:rPr lang="en-US" sz="2025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FEASIBILITY</a:t>
            </a:r>
          </a:p>
          <a:p>
            <a:pPr algn="just" marL="366474" indent="-183237" lvl="1">
              <a:lnSpc>
                <a:spcPts val="2085"/>
              </a:lnSpc>
              <a:spcBef>
                <a:spcPct val="0"/>
              </a:spcBef>
              <a:buFont typeface="Arial"/>
              <a:buChar char="•"/>
            </a:pPr>
            <a:r>
              <a:rPr lang="en-US" sz="2025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🧩 TECHNICAL</a:t>
            </a:r>
          </a:p>
          <a:p>
            <a:pPr algn="just" marL="366474" indent="-183237" lvl="1">
              <a:lnSpc>
                <a:spcPts val="2085"/>
              </a:lnSpc>
              <a:spcBef>
                <a:spcPct val="0"/>
              </a:spcBef>
              <a:buFont typeface="Arial"/>
              <a:buChar char="•"/>
            </a:pPr>
            <a:r>
              <a:rPr lang="en-US" sz="2025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Existing normalized corpus, database, ETL/schema validation, web UI, API and OCR/TTS paths.</a:t>
            </a:r>
          </a:p>
          <a:p>
            <a:pPr algn="just" marL="366474" indent="-183237" lvl="1">
              <a:lnSpc>
                <a:spcPts val="2085"/>
              </a:lnSpc>
              <a:spcBef>
                <a:spcPct val="0"/>
              </a:spcBef>
              <a:buFont typeface="Arial"/>
              <a:buChar char="•"/>
            </a:pPr>
          </a:p>
          <a:p>
            <a:pPr algn="just" marL="366474" indent="-183237" lvl="1">
              <a:lnSpc>
                <a:spcPts val="2085"/>
              </a:lnSpc>
              <a:spcBef>
                <a:spcPct val="0"/>
              </a:spcBef>
              <a:buFont typeface="Arial"/>
              <a:buChar char="•"/>
            </a:pPr>
            <a:r>
              <a:rPr lang="en-US" sz="2025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💰 FINANCIAL</a:t>
            </a:r>
          </a:p>
          <a:p>
            <a:pPr algn="just" marL="366474" indent="-183237" lvl="1">
              <a:lnSpc>
                <a:spcPts val="2085"/>
              </a:lnSpc>
              <a:spcBef>
                <a:spcPct val="0"/>
              </a:spcBef>
              <a:buFont typeface="Arial"/>
              <a:buChar char="•"/>
            </a:pPr>
            <a:r>
              <a:rPr lang="en-US" sz="2025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Cost categories: devices, server/storage/backup, digitization, connectivity and support.</a:t>
            </a:r>
          </a:p>
          <a:p>
            <a:pPr algn="just" marL="366474" indent="-183237" lvl="1">
              <a:lnSpc>
                <a:spcPts val="2085"/>
              </a:lnSpc>
              <a:spcBef>
                <a:spcPct val="0"/>
              </a:spcBef>
              <a:buFont typeface="Arial"/>
              <a:buChar char="•"/>
            </a:pPr>
            <a:r>
              <a:rPr lang="en-US" sz="2025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Project budget/vendor quotes: pending.</a:t>
            </a:r>
          </a:p>
          <a:p>
            <a:pPr algn="just" marL="366474" indent="-183237" lvl="1">
              <a:lnSpc>
                <a:spcPts val="2085"/>
              </a:lnSpc>
              <a:spcBef>
                <a:spcPct val="0"/>
              </a:spcBef>
              <a:buFont typeface="Arial"/>
              <a:buChar char="•"/>
            </a:pPr>
          </a:p>
          <a:p>
            <a:pPr algn="just" marL="366474" indent="-183237" lvl="1">
              <a:lnSpc>
                <a:spcPts val="2085"/>
              </a:lnSpc>
              <a:spcBef>
                <a:spcPct val="0"/>
              </a:spcBef>
              <a:buFont typeface="Arial"/>
              <a:buChar char="•"/>
            </a:pPr>
            <a:r>
              <a:rPr lang="en-US" sz="2025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👥 USER / MARKET</a:t>
            </a:r>
          </a:p>
          <a:p>
            <a:pPr algn="just" marL="366474" indent="-183237" lvl="1">
              <a:lnSpc>
                <a:spcPts val="2085"/>
              </a:lnSpc>
              <a:spcBef>
                <a:spcPct val="0"/>
              </a:spcBef>
              <a:buFont typeface="Arial"/>
              <a:buChar char="•"/>
            </a:pPr>
            <a:r>
              <a:rPr lang="en-US" sz="2025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Target users: students, researchers, archivists, institutional visitors and public.</a:t>
            </a:r>
          </a:p>
          <a:p>
            <a:pPr algn="just" marL="366474" indent="-183237" lvl="1">
              <a:lnSpc>
                <a:spcPts val="2085"/>
              </a:lnSpc>
              <a:spcBef>
                <a:spcPct val="0"/>
              </a:spcBef>
              <a:buFont typeface="Arial"/>
              <a:buChar char="•"/>
            </a:pPr>
            <a:r>
              <a:rPr lang="en-US" sz="2025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Adoption/survey evidence: not yet measured.</a:t>
            </a:r>
          </a:p>
          <a:p>
            <a:pPr algn="just" marL="366474" indent="-183237" lvl="1">
              <a:lnSpc>
                <a:spcPts val="2085"/>
              </a:lnSpc>
              <a:spcBef>
                <a:spcPct val="0"/>
              </a:spcBef>
              <a:buFont typeface="Arial"/>
              <a:buChar char="•"/>
            </a:pPr>
          </a:p>
          <a:p>
            <a:pPr algn="just" marL="366474" indent="-183237" lvl="1">
              <a:lnSpc>
                <a:spcPts val="2085"/>
              </a:lnSpc>
              <a:spcBef>
                <a:spcPct val="0"/>
              </a:spcBef>
              <a:buFont typeface="Arial"/>
              <a:buChar char="•"/>
            </a:pPr>
            <a:r>
              <a:rPr lang="en-US" sz="2025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⚙️ OPERATIONAL</a:t>
            </a:r>
          </a:p>
          <a:p>
            <a:pPr algn="just" marL="366474" indent="-183237" lvl="1">
              <a:lnSpc>
                <a:spcPts val="2085"/>
              </a:lnSpc>
              <a:spcBef>
                <a:spcPct val="0"/>
              </a:spcBef>
              <a:buFont typeface="Arial"/>
              <a:buChar char="•"/>
            </a:pPr>
            <a:r>
              <a:rPr lang="en-US" sz="2025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Requires rights review, metadata stewardship, OCR proofreading, backup/recovery and governed ingestion.</a:t>
            </a:r>
          </a:p>
          <a:p>
            <a:pPr algn="just" marL="366474" indent="-183237" lvl="1">
              <a:lnSpc>
                <a:spcPts val="2085"/>
              </a:lnSpc>
              <a:spcBef>
                <a:spcPct val="0"/>
              </a:spcBef>
              <a:buFont typeface="Arial"/>
              <a:buChar char="•"/>
            </a:pPr>
          </a:p>
          <a:p>
            <a:pPr algn="just" marL="366474" indent="-183237" lvl="1">
              <a:lnSpc>
                <a:spcPts val="2085"/>
              </a:lnSpc>
              <a:spcBef>
                <a:spcPct val="0"/>
              </a:spcBef>
              <a:buFont typeface="Arial"/>
              <a:buChar char="•"/>
            </a:pPr>
            <a:r>
              <a:rPr lang="en-US" sz="2025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RISKS → MITIGATION</a:t>
            </a:r>
          </a:p>
          <a:p>
            <a:pPr algn="just" marL="366474" indent="-183237" lvl="1">
              <a:lnSpc>
                <a:spcPts val="2085"/>
              </a:lnSpc>
              <a:spcBef>
                <a:spcPct val="0"/>
              </a:spcBef>
              <a:buFont typeface="Arial"/>
              <a:buChar char="•"/>
            </a:pPr>
            <a:r>
              <a:rPr lang="en-US" sz="2025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Inventory mismatch → reconcile IDs/counts + rerun validation</a:t>
            </a:r>
          </a:p>
          <a:p>
            <a:pPr algn="just" marL="366474" indent="-183237" lvl="1">
              <a:lnSpc>
                <a:spcPts val="2085"/>
              </a:lnSpc>
              <a:spcBef>
                <a:spcPct val="0"/>
              </a:spcBef>
              <a:buFont typeface="Arial"/>
              <a:buChar char="•"/>
            </a:pPr>
            <a:r>
              <a:rPr lang="en-US" sz="2025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OCR errors → human correction + source traceability</a:t>
            </a:r>
          </a:p>
          <a:p>
            <a:pPr algn="just" marL="366474" indent="-183237" lvl="1">
              <a:lnSpc>
                <a:spcPts val="2085"/>
              </a:lnSpc>
              <a:spcBef>
                <a:spcPct val="0"/>
              </a:spcBef>
              <a:buFont typeface="Arial"/>
              <a:buChar char="•"/>
            </a:pPr>
            <a:r>
              <a:rPr lang="en-US" sz="2025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Weak retrieval → question-set testing + exact citations</a:t>
            </a:r>
          </a:p>
          <a:p>
            <a:pPr algn="just" marL="366474" indent="-183237" lvl="1">
              <a:lnSpc>
                <a:spcPts val="2085"/>
              </a:lnSpc>
              <a:spcBef>
                <a:spcPct val="0"/>
              </a:spcBef>
              <a:buFont typeface="Arial"/>
              <a:buChar char="•"/>
            </a:pPr>
            <a:r>
              <a:rPr lang="en-US" sz="2025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Language coverage → verify one language at a time</a:t>
            </a:r>
          </a:p>
          <a:p>
            <a:pPr algn="just" marL="366474" indent="-183237" lvl="1">
              <a:lnSpc>
                <a:spcPts val="2085"/>
              </a:lnSpc>
              <a:spcBef>
                <a:spcPct val="0"/>
              </a:spcBef>
              <a:buFont typeface="Arial"/>
              <a:buChar char="•"/>
            </a:pPr>
            <a:r>
              <a:rPr lang="en-US" sz="2025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Offline/CDN dependency → vendor static assets + offline test</a:t>
            </a:r>
          </a:p>
          <a:p>
            <a:pPr algn="just" marL="366474" indent="-183237" lvl="1">
              <a:lnSpc>
                <a:spcPts val="2085"/>
              </a:lnSpc>
              <a:spcBef>
                <a:spcPct val="0"/>
              </a:spcBef>
              <a:buFont typeface="Arial"/>
              <a:buChar char="•"/>
            </a:pPr>
            <a:r>
              <a:rPr lang="en-US" sz="2025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Hardware integration → controlled kiosk/display pilot</a:t>
            </a:r>
          </a:p>
          <a:p>
            <a:pPr algn="just" marL="366474" indent="-183237" lvl="1">
              <a:lnSpc>
                <a:spcPts val="2085"/>
              </a:lnSpc>
              <a:spcBef>
                <a:spcPct val="0"/>
              </a:spcBef>
              <a:buFont typeface="Arial"/>
              <a:buChar char="•"/>
            </a:pPr>
            <a:r>
              <a:rPr lang="en-US" sz="2025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Permissions → rights confirmation + archivist approval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75612" y="359321"/>
            <a:ext cx="1915887" cy="1249101"/>
            <a:chOff x="0" y="0"/>
            <a:chExt cx="2554516" cy="1665468"/>
          </a:xfrm>
        </p:grpSpPr>
        <p:sp>
          <p:nvSpPr>
            <p:cNvPr name="Freeform 15" id="15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40"/>
                </a:lnSpc>
                <a:spcBef>
                  <a:spcPct val="0"/>
                </a:spcBef>
              </a:pPr>
              <a:r>
                <a:rPr lang="en-US" sz="2700" strike="noStrike" u="none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[TEAM NAME]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915382" y="2889554"/>
            <a:ext cx="13895070" cy="4993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80048" indent="-190024" lvl="1">
              <a:lnSpc>
                <a:spcPts val="2205"/>
              </a:lnSpc>
              <a:spcBef>
                <a:spcPct val="0"/>
              </a:spcBef>
              <a:buFont typeface="Arial"/>
              <a:buChar char="•"/>
            </a:pPr>
            <a:r>
              <a:rPr lang="en-US" sz="2100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TARGET AUDIENCE</a:t>
            </a:r>
          </a:p>
          <a:p>
            <a:pPr algn="just" marL="380048" indent="-190024" lvl="1">
              <a:lnSpc>
                <a:spcPts val="2205"/>
              </a:lnSpc>
              <a:spcBef>
                <a:spcPct val="0"/>
              </a:spcBef>
              <a:buFont typeface="Arial"/>
              <a:buChar char="•"/>
            </a:pPr>
            <a:r>
              <a:rPr lang="en-US" sz="2100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🎓 STUDENTS       🔬 RESEARCHERS       🗄️ ARCHIVISTS</a:t>
            </a:r>
          </a:p>
          <a:p>
            <a:pPr algn="just" marL="380048" indent="-190024" lvl="1">
              <a:lnSpc>
                <a:spcPts val="2205"/>
              </a:lnSpc>
              <a:spcBef>
                <a:spcPct val="0"/>
              </a:spcBef>
              <a:buFont typeface="Arial"/>
              <a:buChar char="•"/>
            </a:pPr>
            <a:r>
              <a:rPr lang="en-US" sz="2100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🏛️ INSTITUTIONAL VISITORS       🌍 PUBLIC</a:t>
            </a:r>
          </a:p>
          <a:p>
            <a:pPr algn="just" marL="380048" indent="-190024" lvl="1">
              <a:lnSpc>
                <a:spcPts val="2205"/>
              </a:lnSpc>
              <a:spcBef>
                <a:spcPct val="0"/>
              </a:spcBef>
              <a:buFont typeface="Arial"/>
              <a:buChar char="•"/>
            </a:pPr>
          </a:p>
          <a:p>
            <a:pPr algn="just" marL="380048" indent="-190024" lvl="1">
              <a:lnSpc>
                <a:spcPts val="2205"/>
              </a:lnSpc>
              <a:spcBef>
                <a:spcPct val="0"/>
              </a:spcBef>
              <a:buFont typeface="Arial"/>
              <a:buChar char="•"/>
            </a:pPr>
            <a:r>
              <a:rPr lang="en-US" sz="2100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IMPACT PATH</a:t>
            </a:r>
          </a:p>
          <a:p>
            <a:pPr algn="just" marL="380048" indent="-190024" lvl="1">
              <a:lnSpc>
                <a:spcPts val="2205"/>
              </a:lnSpc>
              <a:spcBef>
                <a:spcPct val="0"/>
              </a:spcBef>
              <a:buFont typeface="Arial"/>
              <a:buChar char="•"/>
            </a:pPr>
            <a:r>
              <a:rPr lang="en-US" sz="2100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ACCESS → DISCOVERY → UNDERSTANDING → RESEARCH → PRESERVATION</a:t>
            </a:r>
          </a:p>
          <a:p>
            <a:pPr algn="just" marL="380048" indent="-190024" lvl="1">
              <a:lnSpc>
                <a:spcPts val="2205"/>
              </a:lnSpc>
              <a:spcBef>
                <a:spcPct val="0"/>
              </a:spcBef>
              <a:buFont typeface="Arial"/>
              <a:buChar char="•"/>
            </a:pPr>
          </a:p>
          <a:p>
            <a:pPr algn="just" marL="380048" indent="-190024" lvl="1">
              <a:lnSpc>
                <a:spcPts val="2205"/>
              </a:lnSpc>
              <a:spcBef>
                <a:spcPct val="0"/>
              </a:spcBef>
              <a:buFont typeface="Arial"/>
              <a:buChar char="•"/>
            </a:pPr>
            <a:r>
              <a:rPr lang="en-US" sz="2100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EXPECTED BENEFITS</a:t>
            </a:r>
          </a:p>
          <a:p>
            <a:pPr algn="just" marL="380048" indent="-190024" lvl="1">
              <a:lnSpc>
                <a:spcPts val="2205"/>
              </a:lnSpc>
              <a:spcBef>
                <a:spcPct val="0"/>
              </a:spcBef>
              <a:buFont typeface="Arial"/>
              <a:buChar char="•"/>
            </a:pPr>
            <a:r>
              <a:rPr lang="en-US" sz="2100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Faster discovery across distributed archival sources.</a:t>
            </a:r>
          </a:p>
          <a:p>
            <a:pPr algn="just" marL="380048" indent="-190024" lvl="1">
              <a:lnSpc>
                <a:spcPts val="2205"/>
              </a:lnSpc>
              <a:spcBef>
                <a:spcPct val="0"/>
              </a:spcBef>
              <a:buFont typeface="Arial"/>
              <a:buChar char="•"/>
            </a:pPr>
            <a:r>
              <a:rPr lang="en-US" sz="2100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More consistent metadata, provenance and preservation workflows.</a:t>
            </a:r>
          </a:p>
          <a:p>
            <a:pPr algn="just" marL="380048" indent="-190024" lvl="1">
              <a:lnSpc>
                <a:spcPts val="2205"/>
              </a:lnSpc>
              <a:spcBef>
                <a:spcPct val="0"/>
              </a:spcBef>
              <a:buFont typeface="Arial"/>
              <a:buChar char="•"/>
            </a:pPr>
            <a:r>
              <a:rPr lang="en-US" sz="2100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Accessible learning through timeline, summaries, narration and multilingual interface controls.</a:t>
            </a:r>
          </a:p>
          <a:p>
            <a:pPr algn="just" marL="380048" indent="-190024" lvl="1">
              <a:lnSpc>
                <a:spcPts val="2205"/>
              </a:lnSpc>
              <a:spcBef>
                <a:spcPct val="0"/>
              </a:spcBef>
              <a:buFont typeface="Arial"/>
              <a:buChar char="•"/>
            </a:pPr>
            <a:r>
              <a:rPr lang="en-US" sz="2100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Better support for constitutional awareness and archival research.</a:t>
            </a:r>
          </a:p>
          <a:p>
            <a:pPr algn="just" marL="380048" indent="-190024" lvl="1">
              <a:lnSpc>
                <a:spcPts val="2205"/>
              </a:lnSpc>
              <a:spcBef>
                <a:spcPct val="0"/>
              </a:spcBef>
              <a:buFont typeface="Arial"/>
              <a:buChar char="•"/>
            </a:pPr>
            <a:r>
              <a:rPr lang="en-US" sz="2100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Institutional foundation for future semantic/vector retrieval.</a:t>
            </a:r>
          </a:p>
          <a:p>
            <a:pPr algn="just" marL="380048" indent="-190024" lvl="1">
              <a:lnSpc>
                <a:spcPts val="2205"/>
              </a:lnSpc>
              <a:spcBef>
                <a:spcPct val="0"/>
              </a:spcBef>
              <a:buFont typeface="Arial"/>
              <a:buChar char="•"/>
            </a:pPr>
          </a:p>
          <a:p>
            <a:pPr algn="just" marL="380048" indent="-190024" lvl="1">
              <a:lnSpc>
                <a:spcPts val="2205"/>
              </a:lnSpc>
              <a:spcBef>
                <a:spcPct val="0"/>
              </a:spcBef>
              <a:buFont typeface="Arial"/>
              <a:buChar char="•"/>
            </a:pPr>
            <a:r>
              <a:rPr lang="en-US" sz="2100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PILOT MEASURES TO TRACK</a:t>
            </a:r>
          </a:p>
          <a:p>
            <a:pPr algn="just" marL="380048" indent="-190024" lvl="1">
              <a:lnSpc>
                <a:spcPts val="2205"/>
              </a:lnSpc>
              <a:spcBef>
                <a:spcPct val="0"/>
              </a:spcBef>
              <a:buFont typeface="Arial"/>
              <a:buChar char="•"/>
            </a:pPr>
            <a:r>
              <a:rPr lang="en-US" sz="2100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Search relevance • citation accuracy • OCR correction rate • task completion time • accessibility feedback</a:t>
            </a:r>
          </a:p>
          <a:p>
            <a:pPr algn="just" marL="380048" indent="-190024" lvl="1">
              <a:lnSpc>
                <a:spcPts val="2205"/>
              </a:lnSpc>
              <a:spcBef>
                <a:spcPct val="0"/>
              </a:spcBef>
              <a:buFont typeface="Arial"/>
              <a:buChar char="•"/>
            </a:pPr>
          </a:p>
          <a:p>
            <a:pPr algn="just" marL="380048" indent="-190024" lvl="1">
              <a:lnSpc>
                <a:spcPts val="2205"/>
              </a:lnSpc>
              <a:spcBef>
                <a:spcPct val="0"/>
              </a:spcBef>
              <a:buFont typeface="Arial"/>
              <a:buChar char="•"/>
            </a:pPr>
            <a:r>
              <a:rPr lang="en-US" sz="2100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Note: impacts above are expected benefits; no adoption or performance results are claimed yet.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75612" y="359321"/>
            <a:ext cx="1915887" cy="1249101"/>
            <a:chOff x="0" y="0"/>
            <a:chExt cx="2554516" cy="1665468"/>
          </a:xfrm>
        </p:grpSpPr>
        <p:sp>
          <p:nvSpPr>
            <p:cNvPr name="Freeform 15" id="15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40"/>
                </a:lnSpc>
                <a:spcBef>
                  <a:spcPct val="0"/>
                </a:spcBef>
              </a:pPr>
              <a:r>
                <a:rPr lang="en-US" sz="2700" strike="noStrike" u="none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[TEAM NAME]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750011" y="3222838"/>
            <a:ext cx="12321927" cy="5338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93621" indent="-196810" lvl="1">
              <a:lnSpc>
                <a:spcPts val="2349"/>
              </a:lnSpc>
              <a:spcBef>
                <a:spcPct val="0"/>
              </a:spcBef>
              <a:buFont typeface="Arial"/>
              <a:buChar char="•"/>
            </a:pPr>
            <a:r>
              <a:rPr lang="en-US" sz="2175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PRIMARY RESEARCH REFERENCES</a:t>
            </a:r>
          </a:p>
          <a:p>
            <a:pPr algn="just" marL="393621" indent="-196810" lvl="1">
              <a:lnSpc>
                <a:spcPts val="2349"/>
              </a:lnSpc>
              <a:spcBef>
                <a:spcPct val="0"/>
              </a:spcBef>
              <a:buFont typeface="Arial"/>
              <a:buChar char="•"/>
            </a:pPr>
          </a:p>
          <a:p>
            <a:pPr algn="just" marL="393621" indent="-196810" lvl="1">
              <a:lnSpc>
                <a:spcPts val="2349"/>
              </a:lnSpc>
              <a:spcBef>
                <a:spcPct val="0"/>
              </a:spcBef>
              <a:buFont typeface="Arial"/>
              <a:buChar char="•"/>
            </a:pPr>
            <a:r>
              <a:rPr lang="en-US" sz="2175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📘 B. R. Ambedkar — Annihilation of Caste</a:t>
            </a:r>
          </a:p>
          <a:p>
            <a:pPr algn="just" marL="393621" indent="-196810" lvl="1">
              <a:lnSpc>
                <a:spcPts val="2349"/>
              </a:lnSpc>
              <a:spcBef>
                <a:spcPct val="0"/>
              </a:spcBef>
              <a:buFont typeface="Arial"/>
              <a:buChar char="•"/>
            </a:pPr>
            <a:r>
              <a:rPr lang="en-US" sz="2175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BAWS, Vol. 1, pp. 23–96</a:t>
            </a:r>
          </a:p>
          <a:p>
            <a:pPr algn="just" marL="393621" indent="-196810" lvl="1">
              <a:lnSpc>
                <a:spcPts val="2349"/>
              </a:lnSpc>
              <a:spcBef>
                <a:spcPct val="0"/>
              </a:spcBef>
              <a:buFont typeface="Arial"/>
              <a:buChar char="•"/>
            </a:pPr>
          </a:p>
          <a:p>
            <a:pPr algn="just" marL="393621" indent="-196810" lvl="1">
              <a:lnSpc>
                <a:spcPts val="2349"/>
              </a:lnSpc>
              <a:spcBef>
                <a:spcPct val="0"/>
              </a:spcBef>
              <a:buFont typeface="Arial"/>
              <a:buChar char="•"/>
            </a:pPr>
            <a:r>
              <a:rPr lang="en-US" sz="2175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📜 Constituent Assembly Debates</a:t>
            </a:r>
          </a:p>
          <a:p>
            <a:pPr algn="just" marL="393621" indent="-196810" lvl="1">
              <a:lnSpc>
                <a:spcPts val="2349"/>
              </a:lnSpc>
              <a:spcBef>
                <a:spcPct val="0"/>
              </a:spcBef>
              <a:buFont typeface="Arial"/>
              <a:buChar char="•"/>
            </a:pPr>
            <a:r>
              <a:rPr lang="en-US" sz="2175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Vol. XI, pp. 972–984</a:t>
            </a:r>
          </a:p>
          <a:p>
            <a:pPr algn="just" marL="393621" indent="-196810" lvl="1">
              <a:lnSpc>
                <a:spcPts val="2349"/>
              </a:lnSpc>
              <a:spcBef>
                <a:spcPct val="0"/>
              </a:spcBef>
              <a:buFont typeface="Arial"/>
              <a:buChar char="•"/>
            </a:pPr>
          </a:p>
          <a:p>
            <a:pPr algn="just" marL="393621" indent="-196810" lvl="1">
              <a:lnSpc>
                <a:spcPts val="2349"/>
              </a:lnSpc>
              <a:spcBef>
                <a:spcPct val="0"/>
              </a:spcBef>
              <a:buFont typeface="Arial"/>
              <a:buChar char="•"/>
            </a:pPr>
            <a:r>
              <a:rPr lang="en-US" sz="2175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📗 B. R. Ambedkar — The Problem of the Rupee</a:t>
            </a:r>
          </a:p>
          <a:p>
            <a:pPr algn="just" marL="393621" indent="-196810" lvl="1">
              <a:lnSpc>
                <a:spcPts val="2349"/>
              </a:lnSpc>
              <a:spcBef>
                <a:spcPct val="0"/>
              </a:spcBef>
              <a:buFont typeface="Arial"/>
              <a:buChar char="•"/>
            </a:pPr>
            <a:r>
              <a:rPr lang="en-US" sz="2175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BAWS, Vol. 6, pp. 315–620</a:t>
            </a:r>
          </a:p>
          <a:p>
            <a:pPr algn="just" marL="393621" indent="-196810" lvl="1">
              <a:lnSpc>
                <a:spcPts val="2349"/>
              </a:lnSpc>
              <a:spcBef>
                <a:spcPct val="0"/>
              </a:spcBef>
              <a:buFont typeface="Arial"/>
              <a:buChar char="•"/>
            </a:pPr>
          </a:p>
          <a:p>
            <a:pPr algn="just" marL="393621" indent="-196810" lvl="1">
              <a:lnSpc>
                <a:spcPts val="2349"/>
              </a:lnSpc>
              <a:spcBef>
                <a:spcPct val="0"/>
              </a:spcBef>
              <a:buFont typeface="Arial"/>
              <a:buChar char="•"/>
            </a:pPr>
            <a:r>
              <a:rPr lang="en-US" sz="2175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📕 B. R. Ambedkar — Waiting for a Visa</a:t>
            </a:r>
          </a:p>
          <a:p>
            <a:pPr algn="just" marL="393621" indent="-196810" lvl="1">
              <a:lnSpc>
                <a:spcPts val="2349"/>
              </a:lnSpc>
              <a:spcBef>
                <a:spcPct val="0"/>
              </a:spcBef>
              <a:buFont typeface="Arial"/>
              <a:buChar char="•"/>
            </a:pPr>
            <a:r>
              <a:rPr lang="en-US" sz="2175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BAWS, Vol. 12, pp. 661–691</a:t>
            </a:r>
          </a:p>
          <a:p>
            <a:pPr algn="just" marL="393621" indent="-196810" lvl="1">
              <a:lnSpc>
                <a:spcPts val="2349"/>
              </a:lnSpc>
              <a:spcBef>
                <a:spcPct val="0"/>
              </a:spcBef>
              <a:buFont typeface="Arial"/>
              <a:buChar char="•"/>
            </a:pPr>
          </a:p>
          <a:p>
            <a:pPr algn="just" marL="393621" indent="-196810" lvl="1">
              <a:lnSpc>
                <a:spcPts val="2349"/>
              </a:lnSpc>
              <a:spcBef>
                <a:spcPct val="0"/>
              </a:spcBef>
              <a:buFont typeface="Arial"/>
              <a:buChar char="•"/>
            </a:pPr>
            <a:r>
              <a:rPr lang="en-US" sz="2175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 → DESIGN</a:t>
            </a:r>
          </a:p>
          <a:p>
            <a:pPr algn="just" marL="393621" indent="-196810" lvl="1">
              <a:lnSpc>
                <a:spcPts val="2349"/>
              </a:lnSpc>
              <a:spcBef>
                <a:spcPct val="0"/>
              </a:spcBef>
              <a:buFont typeface="Arial"/>
              <a:buChar char="•"/>
            </a:pPr>
            <a:r>
              <a:rPr lang="en-US" sz="2175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Primary sources → metadata model → searchable archive → cited retrieval → timeline / narration</a:t>
            </a:r>
          </a:p>
          <a:p>
            <a:pPr algn="just" marL="393621" indent="-196810" lvl="1">
              <a:lnSpc>
                <a:spcPts val="2349"/>
              </a:lnSpc>
              <a:spcBef>
                <a:spcPct val="0"/>
              </a:spcBef>
              <a:buFont typeface="Arial"/>
              <a:buChar char="•"/>
            </a:pPr>
          </a:p>
          <a:p>
            <a:pPr algn="just" marL="393621" indent="-196810" lvl="1">
              <a:lnSpc>
                <a:spcPts val="2349"/>
              </a:lnSpc>
              <a:spcBef>
                <a:spcPct val="0"/>
              </a:spcBef>
              <a:buFont typeface="Arial"/>
              <a:buChar char="•"/>
            </a:pPr>
            <a:r>
              <a:rPr lang="en-US" sz="2175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Reference links should be added only after official source URLs are verified.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75612" y="359321"/>
            <a:ext cx="1915887" cy="1249101"/>
            <a:chOff x="0" y="0"/>
            <a:chExt cx="2554516" cy="1665468"/>
          </a:xfrm>
        </p:grpSpPr>
        <p:sp>
          <p:nvSpPr>
            <p:cNvPr name="Freeform 15" id="15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40"/>
                </a:lnSpc>
                <a:spcBef>
                  <a:spcPct val="0"/>
                </a:spcBef>
              </a:pPr>
              <a:r>
                <a:rPr lang="en-US" sz="2700" strike="noStrike" u="none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[TEAM NAME]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DAHWsYd-Aow</dc:identifier>
  <dcterms:modified xsi:type="dcterms:W3CDTF">2011-08-01T06:04:30Z</dcterms:modified>
  <cp:revision>1</cp:revision>
  <dc:title>SIH 2026 — Dr. B. R. Ambedkar Digital Heritage Archive — Official Format</dc:title>
</cp:coreProperties>
</file>