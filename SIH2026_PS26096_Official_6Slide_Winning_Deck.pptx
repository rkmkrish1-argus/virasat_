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12240"/>
          </a:solidFill>
          <a:ln w="25400">
            <a:solidFill>
              <a:srgbClr val="0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C4"/>
                </a:solidFill>
              </a:defRPr>
            </a:pPr>
            <a:r>
              <a:t>SMART INDIA HACKATHON 2026 | IDEA PRESENTATION | PS ID: 26096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0F4F8"/>
                </a:solidFill>
              </a:defRPr>
            </a:pPr>
            <a:r>
              <a:t>Dr. B. R. Ambedkar Digital Heritage Archive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D15C"/>
                </a:solidFill>
              </a:defRPr>
            </a:pPr>
            <a:r>
              <a:t>AI-Powered Institutional Memorial Kiosk &amp; Audio-Visual Knowledge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017520"/>
            <a:ext cx="4846320" cy="77724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0906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C4"/>
                </a:solidFill>
              </a:defRPr>
            </a:pPr>
            <a:r>
              <a:t>MINISTRY / ORG</a:t>
            </a:r>
          </a:p>
          <a:p>
            <a:pPr>
              <a:defRPr sz="1200">
                <a:solidFill>
                  <a:srgbClr val="F0F4F8"/>
                </a:solidFill>
              </a:defRPr>
            </a:pPr>
            <a:r>
              <a:t>Ministry of Social Justice &amp; Empowerment (MoSJE) / DAIC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017520"/>
            <a:ext cx="4846320" cy="77724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0906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C4"/>
                </a:solidFill>
              </a:defRPr>
            </a:pPr>
            <a:r>
              <a:t>THEME &amp; CATEGORY</a:t>
            </a:r>
          </a:p>
          <a:p>
            <a:pPr>
              <a:defRPr sz="1200">
                <a:solidFill>
                  <a:srgbClr val="F0F4F8"/>
                </a:solidFill>
              </a:defRPr>
            </a:pPr>
            <a:r>
              <a:t>Smart Education | Hardware (with Integrated Software)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931920"/>
            <a:ext cx="4846320" cy="77724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0050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C4"/>
                </a:solidFill>
              </a:defRPr>
            </a:pPr>
            <a:r>
              <a:t>TEAM ID</a:t>
            </a:r>
          </a:p>
          <a:p>
            <a:pPr>
              <a:defRPr sz="1200">
                <a:solidFill>
                  <a:srgbClr val="F0F4F8"/>
                </a:solidFill>
              </a:defRPr>
            </a:pPr>
            <a:r>
              <a:t>[FILL FROM SIH PORTAL]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31920"/>
            <a:ext cx="4846320" cy="77724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4005072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D2C4"/>
                </a:solidFill>
              </a:defRPr>
            </a:pPr>
            <a:r>
              <a:t>REGISTERED TEAM NAME</a:t>
            </a:r>
          </a:p>
          <a:p>
            <a:pPr>
              <a:defRPr sz="1200">
                <a:solidFill>
                  <a:srgbClr val="F0F4F8"/>
                </a:solidFill>
              </a:defRPr>
            </a:pPr>
            <a:r>
              <a:t>[FILL EXACTLY AS ON PORTAL]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2920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FFD15C"/>
                </a:solidFill>
              </a:defRPr>
            </a:pPr>
            <a:r>
              <a:t>CORE ARCHIVAL PRINCIPLE: Grounded Provenance over Paraphrasing — Every answer is a direct verifiable excerpt citing Volume, Chapter, Page, and Speech Date.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  <a:latin typeface="Arial"/>
              </a:defRPr>
            </a:pPr>
            <a:r>
              <a:t>IDEA TITLE &amp; PROPOSED SOLUTION |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Proposed Solution: Grounded Heritage Knowledge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FD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15C"/>
                </a:solidFill>
              </a:defRPr>
            </a:pPr>
            <a:r>
              <a:t>The Challenge &amp; Problem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F4F8"/>
                </a:solidFill>
              </a:defRPr>
            </a:pPr>
            <a:r>
              <a:t>• Scattered Heritage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Dr. Ambedkar's 22 BAWS volumes, 1946-50 Constituent Assembly debates, and manuscripts sit fragmented across disconnected libraries.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F4F8"/>
                </a:solidFill>
              </a:defRPr>
            </a:pPr>
            <a:r>
              <a:t>• Optical Degradation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Standard OCR engines fail on aged 1940s mimeographs, cursive marginalia, and ink bleed-through.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F4F8"/>
                </a:solidFill>
              </a:defRPr>
            </a:pPr>
            <a:r>
              <a:t>• Cloud Fragility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Memorial sites and public libraries suffer intermittent internet; cloud-based LLMs incur high API costs and latency.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C4"/>
                </a:solidFill>
              </a:defRPr>
            </a:pPr>
            <a:r>
              <a:t>Proposed Solution &amp;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F4F8"/>
                </a:solidFill>
              </a:defRPr>
            </a:pPr>
            <a:r>
              <a:t>• Touchscreen Memorial Kiosk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Turnkey edge terminal running 100% offline with zero external cloud dependencies.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429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F4F8"/>
                </a:solidFill>
              </a:defRPr>
            </a:pPr>
            <a:r>
              <a:t>• Curated Multi-Source Corpus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Standardized schema indexing BAWS, Constituent Assembly Debates, NDLI records, and audio archives.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F4F8"/>
                </a:solidFill>
              </a:defRPr>
            </a:pPr>
            <a:r>
              <a:t>• Exact Passage Retrieval (RAG)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Returns authentic quoted paragraphs with metadata rather than generative historical paraphrasing.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FD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5087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15C"/>
                </a:solidFill>
              </a:defRPr>
            </a:pPr>
            <a:r>
              <a:t>Uniqueness &amp; Innovation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1031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F4F8"/>
                </a:solidFill>
              </a:defRPr>
            </a:pPr>
            <a:r>
              <a:t>• Custom Handwriting LSTM OCR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Fine-tuned Tesseract 5 model (ambedkar_handwritten_v2) for historical facsimile extraction.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429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F4F8"/>
                </a:solidFill>
              </a:defRPr>
            </a:pPr>
            <a:r>
              <a:t>• Interactive Dual-Pane Facsimile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Simultaneous side-by-side view of high-res archival scan and searchable digital text.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F4F8"/>
                </a:solidFill>
              </a:defRPr>
            </a:pPr>
            <a:r>
              <a:t>• Multilingual Speech Synthesis</a:t>
            </a:r>
          </a:p>
          <a:p>
            <a:pPr>
              <a:defRPr sz="1050">
                <a:solidFill>
                  <a:srgbClr val="8892B0"/>
                </a:solidFill>
              </a:defRPr>
            </a:pPr>
            <a:r>
              <a:t>Natural audio narration in Marathi, Hindi, and English with cross-linked constitutional timeline.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  <a:latin typeface="Arial"/>
              </a:defRPr>
            </a:pPr>
            <a:r>
              <a:t>TECHNICAL APPROACH &amp; ARCHITECTURE |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Technical Approach: End-to-End Edge Pipeline &amp; System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217920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C4"/>
                </a:solidFill>
              </a:defRPr>
            </a:pPr>
            <a:r>
              <a:t>1. Ingestion &amp; Preservation Layer</a:t>
            </a:r>
          </a:p>
          <a:p>
            <a:pPr>
              <a:defRPr sz="1000">
                <a:solidFill>
                  <a:srgbClr val="F0F4F8"/>
                </a:solidFill>
              </a:defRPr>
            </a:pPr>
            <a:r>
              <a:t>PyMuPDF (fitz) extracts high-res 300+ DPI facsimiles. Contrast normalization &amp; Otsu binarization prepare historical scans for OCR.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6217920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C4"/>
                </a:solidFill>
              </a:defRPr>
            </a:pPr>
            <a:r>
              <a:t>2. Custom Handwriting OCR Engine</a:t>
            </a:r>
          </a:p>
          <a:p>
            <a:pPr>
              <a:defRPr sz="1000">
                <a:solidFill>
                  <a:srgbClr val="F0F4F8"/>
                </a:solidFill>
              </a:defRPr>
            </a:pPr>
            <a:r>
              <a:t>Tesseract 5 LSTM engine with custom model (ambedkar_handwritten_v2.traineddata). Ingests cursive annotations and archival print.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6217920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C4"/>
                </a:solidFill>
              </a:defRPr>
            </a:pPr>
            <a:r>
              <a:t>3. Dense Retrieval &amp; Local RAG</a:t>
            </a:r>
          </a:p>
          <a:p>
            <a:pPr>
              <a:defRPr sz="1000">
                <a:solidFill>
                  <a:srgbClr val="F0F4F8"/>
                </a:solidFill>
              </a:defRPr>
            </a:pPr>
            <a:r>
              <a:t>Passage-level semantic chunking with embedding indexes. Exact quote extractor matches user queries to primary source passages.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6217920" cy="10972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C4"/>
                </a:solidFill>
              </a:defRPr>
            </a:pPr>
            <a:r>
              <a:t>4. Decoupled Edge Inference &amp; Audio</a:t>
            </a:r>
          </a:p>
          <a:p>
            <a:pPr>
              <a:defRPr sz="1000">
                <a:solidFill>
                  <a:srgbClr val="F0F4F8"/>
                </a:solidFill>
              </a:defRPr>
            </a:pPr>
            <a:r>
              <a:t>Local GGUF model daemon (llama-server.exe/Ollama) communicating with FastAPI over HTTP. Fast multilingual TTS audio synthesis.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371600"/>
            <a:ext cx="4297680" cy="23774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FD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481328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15C"/>
                </a:solidFill>
              </a:defRPr>
            </a:pPr>
            <a:r>
              <a:t>HARDWARE SPECIFICATIONS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8745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</a:defRPr>
            </a:pPr>
            <a:r>
              <a:t>Kiosk Enclosure: </a:t>
            </a:r>
            <a:r>
              <a:rPr b="0">
                <a:solidFill>
                  <a:srgbClr val="F0F4F8"/>
                </a:solidFill>
              </a:rPr>
              <a:t>1.5mm powder-coated cold-rolled steel (IP54 front)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2860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</a:defRPr>
            </a:pPr>
            <a:r>
              <a:t>Touch Display: </a:t>
            </a:r>
            <a:r>
              <a:rPr b="0">
                <a:solidFill>
                  <a:srgbClr val="F0F4F8"/>
                </a:solidFill>
              </a:rPr>
              <a:t>32"/43" 10-point capacitive commercial touch (500 nits)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97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</a:defRPr>
            </a:pPr>
            <a:r>
              <a:t>Compute Unit: </a:t>
            </a:r>
            <a:r>
              <a:rPr b="0">
                <a:solidFill>
                  <a:srgbClr val="F0F4F8"/>
                </a:solidFill>
              </a:rPr>
              <a:t>Industrial Mini-PC (Intel i5/AMD Ryzen 7, 16GB DDR5, 1TB NVMe)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1089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</a:defRPr>
            </a:pPr>
            <a:r>
              <a:t>Audio &amp; Power: </a:t>
            </a:r>
            <a:r>
              <a:rPr b="0">
                <a:solidFill>
                  <a:srgbClr val="F0F4F8"/>
                </a:solidFill>
              </a:rPr>
              <a:t>Directional acoustic speaker + Online UPS (30-min backup)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3886200"/>
            <a:ext cx="4297680" cy="237744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FD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995928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D15C"/>
                </a:solidFill>
              </a:defRPr>
            </a:pPr>
            <a:r>
              <a:t>SOFTWARE &amp; RUNTIME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3891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</a:defRPr>
            </a:pPr>
            <a:r>
              <a:t>Backend API: </a:t>
            </a:r>
            <a:r>
              <a:rPr b="0">
                <a:solidFill>
                  <a:srgbClr val="F0F4F8"/>
                </a:solidFill>
              </a:rPr>
              <a:t>FastAPI (v0.115+) &amp; Uvicorn asynchronous REST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8006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</a:defRPr>
            </a:pPr>
            <a:r>
              <a:t>PDF &amp; OCR: </a:t>
            </a:r>
            <a:r>
              <a:rPr b="0">
                <a:solidFill>
                  <a:srgbClr val="F0F4F8"/>
                </a:solidFill>
              </a:rPr>
              <a:t>PyMuPDF (1.24+) + pytesseract + custom LSTM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2120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</a:defRPr>
            </a:pPr>
            <a:r>
              <a:t>Offline LLM: </a:t>
            </a:r>
            <a:r>
              <a:rPr b="0">
                <a:solidFill>
                  <a:srgbClr val="F0F4F8"/>
                </a:solidFill>
              </a:rPr>
              <a:t>Domain-adapted ambedkar01 (GGUF Q4_K_M ~4.1GB RAM)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6235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</a:defRPr>
            </a:pPr>
            <a:r>
              <a:t>Frontend UI: </a:t>
            </a:r>
            <a:r>
              <a:rPr b="0">
                <a:solidFill>
                  <a:srgbClr val="F0F4F8"/>
                </a:solidFill>
              </a:rPr>
              <a:t>Responsive touch-first kiosk interface &amp; dual-pane viewer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  <a:latin typeface="Arial"/>
              </a:defRPr>
            </a:pPr>
            <a:r>
              <a:t>FEASIBILITY AND VIABILITY |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Feasibility, Operational Viability &amp; Risk Mitigation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Technical Feasibility</a:t>
            </a:r>
          </a:p>
          <a:p>
            <a:pPr>
              <a:defRPr sz="900" b="1">
                <a:solidFill>
                  <a:srgbClr val="FFD15C"/>
                </a:solidFill>
              </a:defRPr>
            </a:pPr>
            <a:r>
              <a:t>PROVEN PROTOTYPE</a:t>
            </a:r>
          </a:p>
          <a:p>
            <a:pPr>
              <a:defRPr sz="1000">
                <a:solidFill>
                  <a:srgbClr val="F0F4F8"/>
                </a:solidFill>
              </a:defRPr>
            </a:pPr>
            <a:r>
              <a:t>• Validated local execution of FastAPI + PyMuPDF + Tesseract.</a:t>
            </a:r>
          </a:p>
          <a:p>
            <a:pPr>
              <a:defRPr sz="1000">
                <a:solidFill>
                  <a:srgbClr val="F0F4F8"/>
                </a:solidFill>
              </a:defRPr>
            </a:pPr>
            <a:r>
              <a:t>• GGUF 4-bit model runs in ~4.1 GB RAM, easily fitting inside 16 GB hardware.</a:t>
            </a:r>
          </a:p>
          <a:p>
            <a:pPr>
              <a:defRPr sz="1000">
                <a:solidFill>
                  <a:srgbClr val="F0F4F8"/>
                </a:solidFill>
              </a:defRPr>
            </a:pPr>
            <a:r>
              <a:t>• Sub-second passage retrieval from 14,000+ indexed BAWS pages.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22860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08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Financial Viability</a:t>
            </a:r>
          </a:p>
          <a:p>
            <a:pPr>
              <a:defRPr sz="900" b="1">
                <a:solidFill>
                  <a:srgbClr val="FFD15C"/>
                </a:solidFill>
              </a:defRPr>
            </a:pPr>
            <a:r>
              <a:t>ZERO ONGOING SAAS</a:t>
            </a:r>
          </a:p>
          <a:p>
            <a:pPr>
              <a:defRPr sz="1000">
                <a:solidFill>
                  <a:srgbClr val="F0F4F8"/>
                </a:solidFill>
              </a:defRPr>
            </a:pPr>
            <a:r>
              <a:t>• 100% offline air-gapped system eliminates recurrent cloud API token costs.</a:t>
            </a:r>
          </a:p>
          <a:p>
            <a:pPr>
              <a:defRPr sz="1000">
                <a:solidFill>
                  <a:srgbClr val="F0F4F8"/>
                </a:solidFill>
              </a:defRPr>
            </a:pPr>
            <a:r>
              <a:t>• Standard commercial Mini-PC &amp; kiosk hardware keeps Capex low.</a:t>
            </a:r>
          </a:p>
          <a:p>
            <a:pPr>
              <a:defRPr sz="1000">
                <a:solidFill>
                  <a:srgbClr val="F0F4F8"/>
                </a:solidFill>
              </a:defRPr>
            </a:pPr>
            <a:r>
              <a:t>• Open-source software stack incurs zero software licensing fees.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74720" cy="22860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0876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Operational Viability</a:t>
            </a:r>
          </a:p>
          <a:p>
            <a:pPr>
              <a:defRPr sz="900" b="1">
                <a:solidFill>
                  <a:srgbClr val="FFD15C"/>
                </a:solidFill>
              </a:defRPr>
            </a:pPr>
            <a:r>
              <a:t>IDEMPOTENT BOOTSTRAP</a:t>
            </a:r>
          </a:p>
          <a:p>
            <a:pPr>
              <a:defRPr sz="1000">
                <a:solidFill>
                  <a:srgbClr val="F0F4F8"/>
                </a:solidFill>
              </a:defRPr>
            </a:pPr>
            <a:r>
              <a:t>• Automated setup_dependencies.py verifies dependencies and model files.</a:t>
            </a:r>
          </a:p>
          <a:p>
            <a:pPr>
              <a:defRPr sz="1000">
                <a:solidFill>
                  <a:srgbClr val="F0F4F8"/>
                </a:solidFill>
              </a:defRPr>
            </a:pPr>
            <a:r>
              <a:t>• Single-click start-local.bat launcher for non-technical museum staff.</a:t>
            </a:r>
          </a:p>
          <a:p>
            <a:pPr>
              <a:defRPr sz="1000">
                <a:solidFill>
                  <a:srgbClr val="F0F4F8"/>
                </a:solidFill>
              </a:defRPr>
            </a:pPr>
            <a:r>
              <a:t>• Self-healing Windows watchdog automatically reboots daemon on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728655" cy="246888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2C4"/>
                </a:solidFill>
              </a:defRPr>
            </a:pPr>
            <a:r>
              <a:t>CHALLENGES, IDENTIFIED RISKS &amp; PROVEN MITIGATION STRATEGIES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15C"/>
                </a:solidFill>
              </a:defRPr>
            </a:pPr>
            <a:r>
              <a:t>Risk 1: Python 3.14 Native Wheel Incompatibility ── </a:t>
            </a:r>
            <a:r>
              <a:rPr b="0">
                <a:solidFill>
                  <a:srgbClr val="F0F4F8"/>
                </a:solidFill>
              </a:rPr>
              <a:t>Mitigation: Decouple inference into precompiled native daemon (llama-server.exe/Ollama); query via HTTP REST.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7316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15C"/>
                </a:solidFill>
              </a:defRPr>
            </a:pPr>
            <a:r>
              <a:t>Risk 2: Memory Fragmentation &amp; OOM on Kiosk ── </a:t>
            </a:r>
            <a:r>
              <a:rPr b="0">
                <a:solidFill>
                  <a:srgbClr val="F0F4F8"/>
                </a:solidFill>
              </a:rPr>
              <a:t>Mitigation: Use memory-mapped model weights (--mmap), strict garbage collection, and automated 6-hour session flush.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4865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15C"/>
                </a:solidFill>
              </a:defRPr>
            </a:pPr>
            <a:r>
              <a:t>Risk 3: Fragile Archival Paper &amp; Ink Bleed ── </a:t>
            </a:r>
            <a:r>
              <a:rPr b="0">
                <a:solidFill>
                  <a:srgbClr val="F0F4F8"/>
                </a:solidFill>
              </a:rPr>
              <a:t>Mitigation: Custom LSTM model (ambedkar_handwritten_v2) combined with Otsu binarization and contrast stretching.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2414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D15C"/>
                </a:solidFill>
              </a:defRPr>
            </a:pPr>
            <a:r>
              <a:t>Risk 4: Visitor Hallucination / Misquotation ── </a:t>
            </a:r>
            <a:r>
              <a:rPr b="0">
                <a:solidFill>
                  <a:srgbClr val="F0F4F8"/>
                </a:solidFill>
              </a:rPr>
              <a:t>Mitigation: Deterministic citation guardrails: system strictly extracts authentic BAWS excerpts; admits lack of data if absent.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  <a:latin typeface="Arial"/>
              </a:defRPr>
            </a:pPr>
            <a:r>
              <a:t>IMPACT AND BENEFITS | 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Impact, Benefits &amp; Value for Heritage Stakeholders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36576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C4"/>
                </a:solidFill>
              </a:defRPr>
            </a:pPr>
            <a:r>
              <a:t>Students &amp; Young Citizens</a:t>
            </a:r>
          </a:p>
          <a:p>
            <a:pPr>
              <a:defRPr sz="900" b="1">
                <a:solidFill>
                  <a:srgbClr val="FFD15C"/>
                </a:solidFill>
              </a:defRPr>
            </a:pPr>
            <a:r>
              <a:t>DEMOCRATIZING HERITAGE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Transforms passive museum visits into interactive constitutional inquiry.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Hear Dr. Ambedkar's landmark speeches delivered through multilingual audio.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Explore clause-by-clause drafting of Fundamental Rights in school libraries.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36576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0876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C4"/>
                </a:solidFill>
              </a:defRPr>
            </a:pPr>
            <a:r>
              <a:t>Scholars &amp; Legal Researchers</a:t>
            </a:r>
          </a:p>
          <a:p>
            <a:pPr>
              <a:defRPr sz="900" b="1">
                <a:solidFill>
                  <a:srgbClr val="FFD15C"/>
                </a:solidFill>
              </a:defRPr>
            </a:pPr>
            <a:r>
              <a:t>RESEARCH-GRADE PROVENANCE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Instant passage-level discovery across 14,000+ pages of BAWS volumes.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Verify marginalia, handwritten draft amendments, and committee debates.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Export authenticated academic citations with volume, page, and date stamps.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371600"/>
            <a:ext cx="3474720" cy="36576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0876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D2C4"/>
                </a:solidFill>
              </a:defRPr>
            </a:pPr>
            <a:r>
              <a:t>Memorial Trusts &amp; Institutions</a:t>
            </a:r>
          </a:p>
          <a:p>
            <a:pPr>
              <a:defRPr sz="900" b="1">
                <a:solidFill>
                  <a:srgbClr val="FFD15C"/>
                </a:solidFill>
              </a:defRPr>
            </a:pPr>
            <a:r>
              <a:t>ZERO-MAINTENANCE TERMINAL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Turnkey deployment at Dr. Ambedkar International Centre (DAIC) &amp; Chaitya Bhoomi.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Vandal-resistant industrial hardware operating 100% offline with zero cloud bills.</a:t>
            </a: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Standardized schema allows easy expansion to other national archive collections.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2560320" cy="109728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8523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15C"/>
                </a:solidFill>
              </a:defRPr>
            </a:pPr>
            <a:r>
              <a:t>14,000+ Pages</a:t>
            </a:r>
          </a:p>
          <a:p>
            <a:pPr>
              <a:defRPr sz="950">
                <a:solidFill>
                  <a:srgbClr val="F0F4F8"/>
                </a:solidFill>
              </a:defRPr>
            </a:pPr>
            <a:r>
              <a:t>Primary historical documents digitized &amp; indexed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5212080"/>
            <a:ext cx="2560320" cy="109728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528523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15C"/>
                </a:solidFill>
              </a:defRPr>
            </a:pPr>
            <a:r>
              <a:t>100% Offline</a:t>
            </a:r>
          </a:p>
          <a:p>
            <a:pPr>
              <a:defRPr sz="950">
                <a:solidFill>
                  <a:srgbClr val="F0F4F8"/>
                </a:solidFill>
              </a:defRPr>
            </a:pPr>
            <a:r>
              <a:t>Zero data transmission, total privacy &amp; resilience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5212080"/>
            <a:ext cx="2560320" cy="109728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528523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15C"/>
                </a:solidFill>
              </a:defRPr>
            </a:pPr>
            <a:r>
              <a:t>&lt; 600 ms Latency</a:t>
            </a:r>
          </a:p>
          <a:p>
            <a:pPr>
              <a:defRPr sz="950">
                <a:solidFill>
                  <a:srgbClr val="F0F4F8"/>
                </a:solidFill>
              </a:defRPr>
            </a:pPr>
            <a:r>
              <a:t>Edge search response on local Mini-PC CPU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5212080"/>
            <a:ext cx="2560320" cy="109728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0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528523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D15C"/>
                </a:solidFill>
              </a:defRPr>
            </a:pPr>
            <a:r>
              <a:t>3 Official Languages</a:t>
            </a:r>
          </a:p>
          <a:p>
            <a:pPr>
              <a:defRPr sz="950">
                <a:solidFill>
                  <a:srgbClr val="F0F4F8"/>
                </a:solidFill>
              </a:defRPr>
            </a:pPr>
            <a:r>
              <a:t>Marathi, Hindi &amp; English speech + text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C4"/>
                </a:solidFill>
                <a:latin typeface="Arial"/>
              </a:defRPr>
            </a:pPr>
            <a:r>
              <a:t>RESEARCH AND REFERENCES | 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Research, Scholarly Literature &amp; Archival Foundations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FD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D15C"/>
                </a:solidFill>
              </a:defRPr>
            </a:pPr>
            <a:r>
              <a:t>Archival Primary Sources &amp; Government Repositories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• Dr. Babasaheb Ambedkar: Writings and Speeches (BAWS)</a:t>
            </a:r>
          </a:p>
          <a:p>
            <a:pPr>
              <a:defRPr sz="950">
                <a:solidFill>
                  <a:srgbClr val="8892B0"/>
                </a:solidFill>
              </a:defRPr>
            </a:pPr>
            <a:r>
              <a:t>Volumes 1 to 22, Dr. Ambedkar Foundation, Ministry of Social Justice and Empowerment, Government of India.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08960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• Constituent Assembly Debates (Official Report)</a:t>
            </a:r>
          </a:p>
          <a:p>
            <a:pPr>
              <a:defRPr sz="950">
                <a:solidFill>
                  <a:srgbClr val="8892B0"/>
                </a:solidFill>
              </a:defRPr>
            </a:pPr>
            <a:r>
              <a:t>Volumes I to XII (1946–1950), Parliament of India Archives &amp; National Digital Library of India (NDLI).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• Landmark Economic &amp; Social Treatises</a:t>
            </a:r>
          </a:p>
          <a:p>
            <a:pPr>
              <a:defRPr sz="950">
                <a:solidFill>
                  <a:srgbClr val="8892B0"/>
                </a:solidFill>
              </a:defRPr>
            </a:pPr>
            <a:r>
              <a:t>The Problem of the Rupee (1923), The Evolution of Provincial Finance in British India (1925), Annihilation of Caste (1936).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212079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• National Archives of India (NAI)</a:t>
            </a:r>
          </a:p>
          <a:p>
            <a:pPr>
              <a:defRPr sz="950">
                <a:solidFill>
                  <a:srgbClr val="8892B0"/>
                </a:solidFill>
              </a:defRPr>
            </a:pPr>
            <a:r>
              <a:t>Government of India archival collections on Drafting Committee amendments, legal marginalia, and gazette notifications.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493776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2C4"/>
                </a:solidFill>
              </a:defRPr>
            </a:pPr>
            <a:r>
              <a:t>Machine Learning &amp; Computer Science Literature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• Smith, R. (2007) — Tesseract OCR Engine</a:t>
            </a:r>
          </a:p>
          <a:p>
            <a:pPr>
              <a:defRPr sz="950">
                <a:solidFill>
                  <a:srgbClr val="8892B0"/>
                </a:solidFill>
              </a:defRPr>
            </a:pPr>
            <a:r>
              <a:t>An Overview of the Tesseract OCR Engine, Proc. ICDAR. Line-finding, LSTM sequence prediction, and custom handwriting tessdata training.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108960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• Lewis, P. et al. (2020) — Retrieval-Augmented Generation</a:t>
            </a:r>
          </a:p>
          <a:p>
            <a:pPr>
              <a:defRPr sz="950">
                <a:solidFill>
                  <a:srgbClr val="8892B0"/>
                </a:solidFill>
              </a:defRPr>
            </a:pPr>
            <a:r>
              <a:t>Retrieval-Augmented Generation for Knowledge-Intensive NLP Tasks, NeurIPS 2020. Provenance-grounded passage retrieval methodology.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160520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• Karpukhin, V. et al. (2020) — Dense Passage Retrieval</a:t>
            </a:r>
          </a:p>
          <a:p>
            <a:pPr>
              <a:defRPr sz="950">
                <a:solidFill>
                  <a:srgbClr val="8892B0"/>
                </a:solidFill>
              </a:defRPr>
            </a:pPr>
            <a:r>
              <a:t>Dense Passage Retrieval for Open-Domain Question Answering, EMNLP 2020. Dual-encoder dense vector matching over archival chunks.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212079"/>
            <a:ext cx="4800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F4F8"/>
                </a:solidFill>
              </a:defRPr>
            </a:pPr>
            <a:r>
              <a:t>• Gerganov, G. (2023) — llama.cpp &amp; Edge Quantization</a:t>
            </a:r>
          </a:p>
          <a:p>
            <a:pPr>
              <a:defRPr sz="950">
                <a:solidFill>
                  <a:srgbClr val="8892B0"/>
                </a:solidFill>
              </a:defRPr>
            </a:pPr>
            <a:r>
              <a:t>Efficient 4-bit integer quantization (GGUF) and memory-mapped CPU edge inference without GPU acceleration.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